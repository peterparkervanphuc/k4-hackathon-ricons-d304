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8f2f0fe554b0c" /><Relationship Type="http://schemas.openxmlformats.org/officeDocument/2006/relationships/extended-properties" Target="/docProps/app.xml" Id="Ra7b086e499f044fe" /><Relationship Type="http://schemas.openxmlformats.org/officeDocument/2006/relationships/officeDocument" Target="/ppt/presentation.xml" Id="R8854fc9b6ced48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d85b4f28d4487"/>
  </p:sldMasterIdLst>
  <p:notesMasterIdLst>
    <p:notesMasterId xmlns:r="http://schemas.openxmlformats.org/officeDocument/2006/relationships" r:id="Rfee09670b77a4473"/>
  </p:notesMasterIdLst>
  <p:sldIdLst>
    <p:sldId xmlns:r="http://schemas.openxmlformats.org/officeDocument/2006/relationships" id="256" r:id="Ra68cfca7c8714665"/>
    <p:sldId xmlns:r="http://schemas.openxmlformats.org/officeDocument/2006/relationships" id="257" r:id="R38e50bbc3ca84554"/>
    <p:sldId xmlns:r="http://schemas.openxmlformats.org/officeDocument/2006/relationships" id="258" r:id="Rf8f21b4b5cce4bc3"/>
    <p:sldId xmlns:r="http://schemas.openxmlformats.org/officeDocument/2006/relationships" id="259" r:id="R4338a8f370dc41b4"/>
    <p:sldId xmlns:r="http://schemas.openxmlformats.org/officeDocument/2006/relationships" id="260" r:id="Rb9270d50390c48c2"/>
    <p:sldId xmlns:r="http://schemas.openxmlformats.org/officeDocument/2006/relationships" id="261" r:id="R207577ec1da944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71f71025a14c1f" /><Relationship Type="http://schemas.openxmlformats.org/officeDocument/2006/relationships/slideMaster" Target="/ppt/slideMasters/slideMaster1.xml" Id="Re53d85b4f28d4487" /><Relationship Type="http://schemas.openxmlformats.org/officeDocument/2006/relationships/notesMaster" Target="/ppt/notesMasters/notesMaster1.xml" Id="Rfee09670b77a4473" /><Relationship Type="http://schemas.openxmlformats.org/officeDocument/2006/relationships/presProps" Target="/ppt/presProps.xml" Id="Ree522438ea5f4f0c" /><Relationship Type="http://schemas.openxmlformats.org/officeDocument/2006/relationships/tableStyles" Target="/ppt/tableStyles.xml" Id="Rb736c5ecb8ba4e14" /><Relationship Type="http://schemas.openxmlformats.org/officeDocument/2006/relationships/slide" Target="/ppt/slides/slide1.xml" Id="Ra68cfca7c8714665" /><Relationship Type="http://schemas.openxmlformats.org/officeDocument/2006/relationships/slide" Target="/ppt/slides/slide2.xml" Id="R38e50bbc3ca84554" /><Relationship Type="http://schemas.openxmlformats.org/officeDocument/2006/relationships/slide" Target="/ppt/slides/slide3.xml" Id="Rf8f21b4b5cce4bc3" /><Relationship Type="http://schemas.openxmlformats.org/officeDocument/2006/relationships/slide" Target="/ppt/slides/slide4.xml" Id="R4338a8f370dc41b4" /><Relationship Type="http://schemas.openxmlformats.org/officeDocument/2006/relationships/slide" Target="/ppt/slides/slide5.xml" Id="Rb9270d50390c48c2" /><Relationship Type="http://schemas.openxmlformats.org/officeDocument/2006/relationships/slide" Target="/ppt/slides/slide6.xml" Id="R207577ec1da944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966eb2cda2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65d5999d94a8e" /><Relationship Type="http://schemas.openxmlformats.org/officeDocument/2006/relationships/notesMaster" Target="/ppt/notesMasters/notesMaster1.xml" Id="Rdde9b8a2ce834f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bd1d4c53644660" /><Relationship Type="http://schemas.openxmlformats.org/officeDocument/2006/relationships/notesMaster" Target="/ppt/notesMasters/notesMaster1.xml" Id="Rb41171fd789e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8f75830cef4339" /><Relationship Type="http://schemas.openxmlformats.org/officeDocument/2006/relationships/notesMaster" Target="/ppt/notesMasters/notesMaster1.xml" Id="R4f0f202c16fd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02eb1a998048a1" /><Relationship Type="http://schemas.openxmlformats.org/officeDocument/2006/relationships/notesMaster" Target="/ppt/notesMasters/notesMaster1.xml" Id="R9dfd0d64ed5249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9e8d4745f042d1" /><Relationship Type="http://schemas.openxmlformats.org/officeDocument/2006/relationships/notesMaster" Target="/ppt/notesMasters/notesMaster1.xml" Id="R467ab009774c45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4d3a5a97704cf9" /><Relationship Type="http://schemas.openxmlformats.org/officeDocument/2006/relationships/notesMaster" Target="/ppt/notesMasters/notesMaster1.xml" Id="R5e2c1f57e41943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2d63e3edf4c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3ff347bb4498a" /><Relationship Type="http://schemas.openxmlformats.org/officeDocument/2006/relationships/slideLayout" Target="/ppt/slideLayouts/slideLayout1.xml" Id="Rcd740f2eed3541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40f2eed35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109c5f2584c6b" /><Relationship Type="http://schemas.openxmlformats.org/officeDocument/2006/relationships/notesSlide" Target="/ppt/notesSlides/notesSlide1.xml" Id="Rcce49dfadbc1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470a79ca6453b" /><Relationship Type="http://schemas.openxmlformats.org/officeDocument/2006/relationships/notesSlide" Target="/ppt/notesSlides/notesSlide2.xml" Id="Rbde0f3195e1e46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4a83874094a8a" /><Relationship Type="http://schemas.openxmlformats.org/officeDocument/2006/relationships/notesSlide" Target="/ppt/notesSlides/notesSlide3.xml" Id="R64c56a0d256e44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d718516ef46e9" /><Relationship Type="http://schemas.openxmlformats.org/officeDocument/2006/relationships/notesSlide" Target="/ppt/notesSlides/notesSlide4.xml" Id="Rd95678e29ef242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aa4cda1b34086" /><Relationship Type="http://schemas.openxmlformats.org/officeDocument/2006/relationships/notesSlide" Target="/ppt/notesSlides/notesSlide5.xml" Id="R29d6af076c3449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a361901a5486f" /><Relationship Type="http://schemas.openxmlformats.org/officeDocument/2006/relationships/notesSlide" Target="/ppt/notesSlides/notesSlide6.xml" Id="R38b2416ae6724a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FA7D4-8FB1-4F5B-A556-B51F2F49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01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D2878-A416-42C0-ACCF-5532C142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Người dùng bị kẹt ở bước thực thi, không phải ở ý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0C8DD-C3AF-4B3E-A0B9-1B4F6E0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45 giây · Nêu một job rõ ràng, có pain định lượng và nguồn kiểm chứng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A6033-41CE-4AC4-91BE-B044ADE6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A0872-29EC-40DA-91D0-A29AEE76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CORE JTBD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68C03-6A2F-4055-9758-CC606D9A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“Khi [tình huống], tôi muốn [hành động] để [kết quả đo được].”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1C2AC-CA66-44A4-A6C4-4F148AE9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5619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FA9AB-C100-4AB0-A12A-42A76078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Job executor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8CCE4-A9F3-4827-9661-CA1F53D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238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[Vai trò cụ thể] · [bối cảnh] · [tần suất]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Không dùng persona chung chung.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1FFAF-BF2F-48AB-99BB-A8B8D9F1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D8510-F933-48AA-A924-8AD881A2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81225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41 / 200 hội thoại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A071D-DCFD-4A43-A44B-FC72626A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765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5309"/>
                </a:solidFill>
              </a:defRPr>
            </a:pPr>
            <a:r>
              <a:rPr sz="1125" b="0">
                <a:solidFill>
                  <a:srgbClr val="B45309"/>
                </a:solidFill>
              </a:rPr>
              <a:t>Pain signal — gắn link log / dashboard / ngày đo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3F6B2-1C64-4990-B70F-DBF98EE7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958D9-1C96-4396-A584-F669AD1A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17 / 25 người khảo sát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A29EB-66A2-427F-9CE0-62077D4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5309"/>
                </a:solidFill>
              </a:defRPr>
            </a:pPr>
            <a:r>
              <a:rPr sz="1125" b="0">
                <a:solidFill>
                  <a:srgbClr val="B45309"/>
                </a:solidFill>
              </a:rPr>
              <a:t>Validation signal — gắn form / script phỏng vấn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1F1C6-E3FA-4D71-950C-8CD54DB4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Chỉ giữ số đã truy xuất được. Nếu chưa có nguồn, thay bằng [ĐIỀN BẰNG CHỨNG].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34546-6C5B-4A81-B60F-DE5BD099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29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Demo round · 5 min + Q&amp;A</a:t>
            </a:r>
          </a:p>
        </p:txBody>
      </p:sp>
    </p:spTree>
    <p:extLst>
      <p:ext uri="{BB962C8B-B14F-4D97-AF65-F5344CB8AC3E}">
        <p14:creationId xmlns:p14="http://schemas.microsoft.com/office/powerpoint/2010/main" val="230688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8DEAB-6DEA-4DBC-90C2-88175824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02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0F4C6-8D65-4959-AF0F-2A24A3DC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Chọn tính năng vì tác động đã được so sánh, không vì “ý tưởng đầu tiên”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EDE05-3A8D-4CB2-B1E5-4D9C80B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45 giây · Hiển thị trade-off và một ứng viên bị loại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3D6FA-52B3-4722-8D48-0859CE80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FA461-1454-474D-AE25-C387478D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ỨNG VIÊN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52A3B-3A82-4183-8680-6A0BB3E3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EEAC5-89D3-45EF-8E57-2E7C2D2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QUYẾT ĐỊNH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8D719-53A6-49BA-8699-909D1C83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38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17925-0E00-4AE3-AA25-C5A3A18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A. [Tính năng được chọn]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04EDB-F13F-457D-975D-D71D7126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[x%] / [n]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A92F5-7B02-49FB-ABF1-EAB803A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985"/>
                </a:solidFill>
              </a:defRPr>
            </a:pPr>
            <a:r>
              <a:rPr sz="1350" b="1">
                <a:solidFill>
                  <a:srgbClr val="075985"/>
                </a:solidFill>
              </a:rPr>
              <a:t>CHỌN — giải pain lõi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2ACF1-5606-4974-9025-57AA47F5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1038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D5509-A0F3-4672-BEF4-1F176C6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B. [Ứng viên 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06C74-BD38-4B7E-B11E-3A61F590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[x%] / [n]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9ACA4-28FF-4313-AC8B-D7B6FDEF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Loại — [lý do 1 dòng]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231EA-5872-4490-9276-0CD8F03B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038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BD965-A837-414E-AB45-5AC24C8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C. [Ứng viên 3]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08CF4-054D-4D0C-952A-5D3312ED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[x%] / [n]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95EBC-C5D6-4D8B-BDEB-6361359D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Loại — [lý do 1 dòng]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3BE38-3CB4-413F-ABD4-4D50ED92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4441C-4948-4FD1-856B-1DC4058C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441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[ĐIỀN 1 số quyết định]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5C075-FD72-4E68-A420-BA177A10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5309"/>
                </a:solidFill>
              </a:defRPr>
            </a:pPr>
            <a:r>
              <a:rPr sz="1125" b="0">
                <a:solidFill>
                  <a:srgbClr val="B45309"/>
                </a:solidFill>
              </a:rPr>
              <a:t>Metric / quote khiến A thắng — phải truy xuất được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C5955-6ECC-4EBD-BB52-A0DC46FD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Nguồn: research log, clickstream, interview notes hoặc test result.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CC464-D720-4098-92C5-6BF7F33E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29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Demo round · 5 min + Q&amp;A</a:t>
            </a:r>
          </a:p>
        </p:txBody>
      </p:sp>
    </p:spTree>
    <p:extLst>
      <p:ext uri="{BB962C8B-B14F-4D97-AF65-F5344CB8AC3E}">
        <p14:creationId xmlns:p14="http://schemas.microsoft.com/office/powerpoint/2010/main" val="2013446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31833-FEA0-4021-AD2B-DCCAD6EA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03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F105C-8868-4FA0-A293-DCBC784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Lát cắt nhỏ: một automation, hai case, một chất lượng có thể kiểm 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A6D1-C477-476D-A5E9-1D8CBBF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2 phút · Demo live; case khó phải cho thấy hệ thống xử lý lỗi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BEE11-8E0F-421B-9E4A-7CBE67E3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81D7B-24C8-455E-B6B9-60D6C4DD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</a:defRPr>
            </a:pPr>
            <a:r>
              <a:rPr sz="1125" b="1">
                <a:solidFill>
                  <a:srgbClr val="0EA5E9"/>
                </a:solidFill>
              </a:rPr>
              <a:t>LÁT CẮT 1 CÂU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BC6E3-6813-4450-A210-A19A32C1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[Người dùng] hoàn thành [job] trong [bước/kết quả] — không cần [công việc thủ công].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22835-046B-46ED-AC0B-538709F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3200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32E31-1A1C-4F24-8671-48381569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1. Case chuẩn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766B7-A874-4FDB-AC08-8F4D7B9B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819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Input: [case happy path]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Demo: [hành động 1–2]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Expected: [kết quả đo được]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291ED-14F0-401D-ACB9-7C26C88D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3200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E49F1-6F76-4C55-8C63-7E67A543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2. Case khó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EAE46-672C-419B-8093-792DF08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71900"/>
            <a:ext cx="2819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Input: [edge case / dữ liệu lỗi]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Demo: [fallback / guardrail]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Expected: [hệ thống nói/ làm gì]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D93A9-1775-4DD8-9CF1-4BCA00D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3200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A2079-EFA0-4692-9E61-F294D82A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909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Cost of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222ED-8711-48B8-8909-6C63EC1D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71900"/>
            <a:ext cx="2819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Nếu sai: [hậu quả cụ thể]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Guardrail: [cách chặn / giải thích / retry]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DB1B4-25D4-4B9C-9983-875A16C9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647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F91DF-F171-44D8-BAEE-87BAAA1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134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[ĐIỀN quality bar 23:59 N1]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EDFA1-4E65-4609-81B5-E02F291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5309"/>
                </a:solidFill>
              </a:defRPr>
            </a:pPr>
            <a:r>
              <a:rPr sz="1125" b="0">
                <a:solidFill>
                  <a:srgbClr val="B45309"/>
                </a:solidFill>
              </a:rPr>
              <a:t>Ví dụ: pass ≥ __ / __ golden set · latency ≤ 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5B14D-3630-4E0A-9251-48A4A7B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Không thay live demo bằng video khi app vẫn chạy được.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C8310-F909-4B40-9014-778E26B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29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Demo round · 5 min + Q&amp;A</a:t>
            </a:r>
          </a:p>
        </p:txBody>
      </p:sp>
    </p:spTree>
    <p:extLst>
      <p:ext uri="{BB962C8B-B14F-4D97-AF65-F5344CB8AC3E}">
        <p14:creationId xmlns:p14="http://schemas.microsoft.com/office/powerpoint/2010/main" val="1814520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26A9A-EBA7-4AAE-A942-D7ACB32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04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89C20-09F6-46E8-BC50-320F2EEE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Kết quả được đọc cùng quality bar — và failure lớn nhất không bị che 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10E3C-5B68-46F2-8A0C-00C13E93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45 giây · Nếu chưa đạt, nêu nguyên nhân thay vì chỉ chọn số đẹp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EE673-CFD7-4F6B-AD96-71DECF7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70E2F-078B-44C4-96FF-DCFA686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267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78EA4-2D3A-459A-83A2-ECEDC68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3924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[__%] qua golden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FAEAA-F303-4366-8826-0ADA1585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5309"/>
                </a:solidFill>
              </a:defRPr>
            </a:pPr>
            <a:r>
              <a:rPr sz="1125" b="0">
                <a:solidFill>
                  <a:srgbClr val="B45309"/>
                </a:solidFill>
              </a:rPr>
              <a:t>Đối chiếu trực tiếp với quality bar đã chốt 23:59 N1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369E7-A38B-4CEA-A388-7718B107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5753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046F8-87AE-4F9C-8727-0E571ED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Quality bar đã cam kết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99DC2-9506-49C0-A262-A9EFC90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47950"/>
            <a:ext cx="537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Target: [__ / __] · Actual: [__ / __]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Method: [link golden set / evaluator / thời điểm đo]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45C45-0012-40B9-9D68-F221F26D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0382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E23F5-5A88-4926-A6DB-E97F418F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Failure đáng kể nhất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06C3-E896-4C02-9F9D-2791270F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[Case lỗi] → [điều đã xảy ra] → [nguyên nhân giả thuyết] → [bằng chứng / log]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2080C-9546-4BAB-A407-42970AA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Một failure thật tăng độ tin cậy hơn “100%” không có cách đo.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9FAF2-6693-49A3-8761-02C7F888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29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Demo round · 5 min + Q&amp;A</a:t>
            </a:r>
          </a:p>
        </p:txBody>
      </p:sp>
    </p:spTree>
    <p:extLst>
      <p:ext uri="{BB962C8B-B14F-4D97-AF65-F5344CB8AC3E}">
        <p14:creationId xmlns:p14="http://schemas.microsoft.com/office/powerpoint/2010/main" val="98355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12694-97F2-4DA4-B7CB-B62E1EC0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05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C7AE4-E922-4623-994B-FB380B70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Người dùng thật chỉ ra phần cần sửa — và chúng tôi đã sửa điều gì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A034B-0471-4346-8EB2-616E2CA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45 giây · Dùng nguyên văn quote, nêu rõ tên/vai và thay đổi sau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C0F96-FAAA-4EE7-8BD4-1CFDDD98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A78E2-3C06-4FC9-9CAE-E61A3D8D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95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2C1F4-305C-48A1-9A8F-1247142D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“[Quote nguyên văn #1]”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8D8AC-E7CA-4453-8973-C69CC7F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— [Tên], [vai trò] · [ngày / phương thức validation]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5D38C-7ECE-4DF1-B60A-2CF61F9D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495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C1CEA-5E70-4C28-A12E-FE6AF591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“[Quote nguyên văn #2]”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D5E33-5D16-4B75-9120-CA80DE1B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— [Tên], [vai trò] · [ngày / phương thức validation]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B0D10-9A84-49AF-A01B-29F348AF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</a:defRPr>
            </a:pPr>
            <a:r>
              <a:rPr sz="1125" b="1">
                <a:solidFill>
                  <a:srgbClr val="0EA5E9"/>
                </a:solidFill>
              </a:rPr>
              <a:t>THAY ĐỔI ĐÃ LÀM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931B2-616E-457B-98C4-C2C293B3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Feedback → [thay đổi UX / logic #1]  |  Feedback → [thay đổi UX / logic #2]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A4697-27D5-47E4-BA23-DB5E3B12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590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64448-16A1-4643-BD5C-83D9BB1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5562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[ĐÍNH KÈM link validation]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DBCF1-B688-4F0E-B4C8-84280854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5309"/>
                </a:solidFill>
              </a:defRPr>
            </a:pPr>
            <a:r>
              <a:rPr sz="1125" b="0">
                <a:solidFill>
                  <a:srgbClr val="B45309"/>
                </a:solidFill>
              </a:rPr>
              <a:t>Không dùng quote khen chung chung; cần ngữ cảnh và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68530-F2C7-4D77-9BE3-E4079630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Quote phải là nguyên văn và có thể mở lại bản ghi / form / note.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2770E-F92F-48DB-AE45-1E31F09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29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Demo round · 5 min + Q&amp;A</a:t>
            </a:r>
          </a:p>
        </p:txBody>
      </p:sp>
    </p:spTree>
    <p:extLst>
      <p:ext uri="{BB962C8B-B14F-4D97-AF65-F5344CB8AC3E}">
        <p14:creationId xmlns:p14="http://schemas.microsoft.com/office/powerpoint/2010/main" val="1648453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6FF97-1849-4E18-B8C4-C2AD9E71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06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7BE38-B9FB-4BA6-B345-280DA15A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Một tuần nữa: xử lý đúng những gì feedback và failure đang chỉ 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D23AD-D3B5-430D-B315-3520A2C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30 giây · 2–3 ưu tiên, rồi chuyển sang demo round 5 phút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158AC-34B1-4DD0-8418-D735045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9920C-F50D-475C-9981-FDEFF8AA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A5E9"/>
                </a:solidFill>
              </a:defRPr>
            </a:pPr>
            <a:r>
              <a:rPr sz="2250" b="1">
                <a:solidFill>
                  <a:srgbClr val="0EA5E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F44C7-24A7-407B-B252-2BF2DA2D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[Ưu tiên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F8BD4-0135-4AEC-9919-3C80674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Trỏ về: [feedback / failure]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689D3-779D-4639-B1E0-A49CEB90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11126-969F-46A8-A3C1-C12990AD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A5E9"/>
                </a:solidFill>
              </a:defRPr>
            </a:pPr>
            <a:r>
              <a:rPr sz="2250" b="1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7B85F-A22F-466A-A80B-F5F94281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[Ưu tiên 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02194-89D3-4776-81AD-A16A3D2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432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Trỏ về: [feedback / failure]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ADE5F-27B1-4C6B-A8CA-E29054F8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FB9A6-BA25-4248-A21B-59E37C07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A5E9"/>
                </a:solidFill>
              </a:defRPr>
            </a:pPr>
            <a:r>
              <a:rPr sz="2250" b="1">
                <a:solidFill>
                  <a:srgbClr val="0EA5E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BA9C5-109E-450C-A6CE-7678366B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[Ưu tiên 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65C6F-EAA5-4AFC-8899-2CC40E86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385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Trỏ về: [feedback / failure]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747AD-4E41-44DB-94A8-AB9C719F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1D572-18CA-4954-817C-429340E2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4CC43-F149-4BFB-B6D8-B5883731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985"/>
                </a:solidFill>
              </a:defRPr>
            </a:pPr>
            <a:r>
              <a:rPr sz="1200" b="1">
                <a:solidFill>
                  <a:srgbClr val="075985"/>
                </a:solidFill>
              </a:rPr>
              <a:t>Bài học lớn nhất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4D1ED-9043-45AA-ABC1-67A506A0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[Một câu: điều evidence đã buộc team thay đổi cách nghĩ / cách xây]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B7D6C-06D4-4C19-B4B8-3EF62A68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Q&amp;A: giám khảo chạy 1 case lạ tại chỗ · mỗi thành viên nói ≥1 phần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645D5-2BB4-491C-93AE-92F7FA0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Checklist trước khi trình bày: link evidence mở được · demo có case khó · owner từng phần rõ ràng.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861B0-9640-4205-873C-3A8A472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29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Demo round · 5 min + Q&amp;A</a:t>
            </a:r>
          </a:p>
        </p:txBody>
      </p:sp>
    </p:spTree>
    <p:extLst>
      <p:ext uri="{BB962C8B-B14F-4D97-AF65-F5344CB8AC3E}">
        <p14:creationId xmlns:p14="http://schemas.microsoft.com/office/powerpoint/2010/main" val="1548150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2026-07-31T08:14:21.7400000Z</dcterms:created>
  <dcterms:modified xsi:type="dcterms:W3CDTF">2026-07-31T08:14:21.7400000Z</dcterms:modified>
</coreProperties>
</file>