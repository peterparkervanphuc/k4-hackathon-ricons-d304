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7" r:id="rId3"/>
    <p:sldId id="258" r:id="rId4"/>
    <p:sldId id="259" r:id="rId5"/>
    <p:sldId id="260" r:id="rId6"/>
    <p:sldId id="263" r:id="rId7"/>
    <p:sldId id="261" r:id="rId8"/>
    <p:sldId id="262"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1" autoAdjust="0"/>
    <p:restoredTop sz="94660"/>
  </p:normalViewPr>
  <p:slideViewPr>
    <p:cSldViewPr snapToGrid="0">
      <p:cViewPr>
        <p:scale>
          <a:sx n="66" d="100"/>
          <a:sy n="66" d="100"/>
        </p:scale>
        <p:origin x="1869" y="83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B74CC10-EF0C-484A-8EDD-D184D01C308A}" type="datetimeFigureOut">
              <a:rPr lang="en-US" smtClean="0"/>
              <a:t>3/14/2024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A15DFD-08DC-4FC4-885A-5660C7F0728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2069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74CC10-EF0C-484A-8EDD-D184D01C308A}" type="datetimeFigureOut">
              <a:rPr lang="en-US" smtClean="0"/>
              <a:t>3/14/2024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A15DFD-08DC-4FC4-885A-5660C7F07287}" type="slidenum">
              <a:rPr lang="en-US" smtClean="0"/>
              <a:t>‹#›</a:t>
            </a:fld>
            <a:endParaRPr lang="en-US"/>
          </a:p>
        </p:txBody>
      </p:sp>
    </p:spTree>
    <p:extLst>
      <p:ext uri="{BB962C8B-B14F-4D97-AF65-F5344CB8AC3E}">
        <p14:creationId xmlns:p14="http://schemas.microsoft.com/office/powerpoint/2010/main" val="3199484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74CC10-EF0C-484A-8EDD-D184D01C308A}" type="datetimeFigureOut">
              <a:rPr lang="en-US" smtClean="0"/>
              <a:t>3/14/2024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A15DFD-08DC-4FC4-885A-5660C7F0728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3429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74CC10-EF0C-484A-8EDD-D184D01C308A}" type="datetimeFigureOut">
              <a:rPr lang="en-US" smtClean="0"/>
              <a:t>3/14/2024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A15DFD-08DC-4FC4-885A-5660C7F07287}" type="slidenum">
              <a:rPr lang="en-US" smtClean="0"/>
              <a:t>‹#›</a:t>
            </a:fld>
            <a:endParaRPr lang="en-US"/>
          </a:p>
        </p:txBody>
      </p:sp>
    </p:spTree>
    <p:extLst>
      <p:ext uri="{BB962C8B-B14F-4D97-AF65-F5344CB8AC3E}">
        <p14:creationId xmlns:p14="http://schemas.microsoft.com/office/powerpoint/2010/main" val="2808748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74CC10-EF0C-484A-8EDD-D184D01C308A}" type="datetimeFigureOut">
              <a:rPr lang="en-US" smtClean="0"/>
              <a:t>3/14/2024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A15DFD-08DC-4FC4-885A-5660C7F07287}" type="slidenum">
              <a:rPr lang="en-US" smtClean="0"/>
              <a:t>‹#›</a:t>
            </a:fld>
            <a:endParaRPr lang="en-US"/>
          </a:p>
        </p:txBody>
      </p:sp>
    </p:spTree>
    <p:extLst>
      <p:ext uri="{BB962C8B-B14F-4D97-AF65-F5344CB8AC3E}">
        <p14:creationId xmlns:p14="http://schemas.microsoft.com/office/powerpoint/2010/main" val="1344489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74CC10-EF0C-484A-8EDD-D184D01C308A}" type="datetimeFigureOut">
              <a:rPr lang="en-US" smtClean="0"/>
              <a:t>3/14/2024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A15DFD-08DC-4FC4-885A-5660C7F07287}" type="slidenum">
              <a:rPr lang="en-US" smtClean="0"/>
              <a:t>‹#›</a:t>
            </a:fld>
            <a:endParaRPr lang="en-US"/>
          </a:p>
        </p:txBody>
      </p:sp>
    </p:spTree>
    <p:extLst>
      <p:ext uri="{BB962C8B-B14F-4D97-AF65-F5344CB8AC3E}">
        <p14:creationId xmlns:p14="http://schemas.microsoft.com/office/powerpoint/2010/main" val="2398981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B74CC10-EF0C-484A-8EDD-D184D01C308A}" type="datetimeFigureOut">
              <a:rPr lang="en-US" smtClean="0"/>
              <a:t>3/14/2024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A9A15DFD-08DC-4FC4-885A-5660C7F07287}" type="slidenum">
              <a:rPr lang="en-US" smtClean="0"/>
              <a:t>‹#›</a:t>
            </a:fld>
            <a:endParaRPr lang="en-US"/>
          </a:p>
        </p:txBody>
      </p:sp>
    </p:spTree>
    <p:extLst>
      <p:ext uri="{BB962C8B-B14F-4D97-AF65-F5344CB8AC3E}">
        <p14:creationId xmlns:p14="http://schemas.microsoft.com/office/powerpoint/2010/main" val="4124247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B74CC10-EF0C-484A-8EDD-D184D01C308A}" type="datetimeFigureOut">
              <a:rPr lang="en-US" smtClean="0"/>
              <a:t>3/14/2024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9A15DFD-08DC-4FC4-885A-5660C7F07287}" type="slidenum">
              <a:rPr lang="en-US" smtClean="0"/>
              <a:t>‹#›</a:t>
            </a:fld>
            <a:endParaRPr lang="en-US"/>
          </a:p>
        </p:txBody>
      </p:sp>
    </p:spTree>
    <p:extLst>
      <p:ext uri="{BB962C8B-B14F-4D97-AF65-F5344CB8AC3E}">
        <p14:creationId xmlns:p14="http://schemas.microsoft.com/office/powerpoint/2010/main" val="188620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74CC10-EF0C-484A-8EDD-D184D01C308A}" type="datetimeFigureOut">
              <a:rPr lang="en-US" smtClean="0"/>
              <a:t>3/14/2024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A15DFD-08DC-4FC4-885A-5660C7F07287}" type="slidenum">
              <a:rPr lang="en-US" smtClean="0"/>
              <a:t>‹#›</a:t>
            </a:fld>
            <a:endParaRPr lang="en-US"/>
          </a:p>
        </p:txBody>
      </p:sp>
    </p:spTree>
    <p:extLst>
      <p:ext uri="{BB962C8B-B14F-4D97-AF65-F5344CB8AC3E}">
        <p14:creationId xmlns:p14="http://schemas.microsoft.com/office/powerpoint/2010/main" val="2919429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74CC10-EF0C-484A-8EDD-D184D01C308A}" type="datetimeFigureOut">
              <a:rPr lang="en-US" smtClean="0"/>
              <a:t>3/14/2024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A15DFD-08DC-4FC4-885A-5660C7F07287}" type="slidenum">
              <a:rPr lang="en-US" smtClean="0"/>
              <a:t>‹#›</a:t>
            </a:fld>
            <a:endParaRPr lang="en-US"/>
          </a:p>
        </p:txBody>
      </p:sp>
    </p:spTree>
    <p:extLst>
      <p:ext uri="{BB962C8B-B14F-4D97-AF65-F5344CB8AC3E}">
        <p14:creationId xmlns:p14="http://schemas.microsoft.com/office/powerpoint/2010/main" val="2644069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74CC10-EF0C-484A-8EDD-D184D01C308A}" type="datetimeFigureOut">
              <a:rPr lang="en-US" smtClean="0"/>
              <a:t>3/14/2024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A15DFD-08DC-4FC4-885A-5660C7F07287}" type="slidenum">
              <a:rPr lang="en-US" smtClean="0"/>
              <a:t>‹#›</a:t>
            </a:fld>
            <a:endParaRPr lang="en-US"/>
          </a:p>
        </p:txBody>
      </p:sp>
    </p:spTree>
    <p:extLst>
      <p:ext uri="{BB962C8B-B14F-4D97-AF65-F5344CB8AC3E}">
        <p14:creationId xmlns:p14="http://schemas.microsoft.com/office/powerpoint/2010/main" val="1377502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B74CC10-EF0C-484A-8EDD-D184D01C308A}" type="datetimeFigureOut">
              <a:rPr lang="en-US" smtClean="0"/>
              <a:t>3/14/2024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9A15DFD-08DC-4FC4-885A-5660C7F0728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673940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48DE4-19B6-3A07-83AC-C17BE99F05E6}"/>
              </a:ext>
            </a:extLst>
          </p:cNvPr>
          <p:cNvSpPr>
            <a:spLocks noGrp="1"/>
          </p:cNvSpPr>
          <p:nvPr>
            <p:ph type="ctrTitle"/>
          </p:nvPr>
        </p:nvSpPr>
        <p:spPr>
          <a:xfrm>
            <a:off x="1524000" y="498475"/>
            <a:ext cx="9144000" cy="2387600"/>
          </a:xfrm>
        </p:spPr>
        <p:txBody>
          <a:bodyPr>
            <a:normAutofit/>
          </a:bodyPr>
          <a:lstStyle/>
          <a:p>
            <a:r>
              <a:rPr lang="vi-VN" dirty="0"/>
              <a:t>Chương 4: Lý thuyết người tiêu dùng</a:t>
            </a:r>
            <a:endParaRPr lang="en-US" dirty="0"/>
          </a:p>
        </p:txBody>
      </p:sp>
      <p:sp>
        <p:nvSpPr>
          <p:cNvPr id="3" name="Subtitle 2">
            <a:extLst>
              <a:ext uri="{FF2B5EF4-FFF2-40B4-BE49-F238E27FC236}">
                <a16:creationId xmlns:a16="http://schemas.microsoft.com/office/drawing/2014/main" id="{C0C8844E-802D-577B-278F-06B37D97D59D}"/>
              </a:ext>
            </a:extLst>
          </p:cNvPr>
          <p:cNvSpPr>
            <a:spLocks noGrp="1"/>
          </p:cNvSpPr>
          <p:nvPr>
            <p:ph type="subTitle" idx="1"/>
          </p:nvPr>
        </p:nvSpPr>
        <p:spPr>
          <a:xfrm>
            <a:off x="1749287" y="2886075"/>
            <a:ext cx="9144000" cy="1655762"/>
          </a:xfrm>
        </p:spPr>
        <p:txBody>
          <a:bodyPr>
            <a:normAutofit/>
          </a:bodyPr>
          <a:lstStyle/>
          <a:p>
            <a:r>
              <a:rPr lang="vi-VN" sz="2800" dirty="0">
                <a:latin typeface="+mj-lt"/>
              </a:rPr>
              <a:t>Phần 4: Thặng dư tiêu dùng và hạn chế của lý thuyết lợi ích.</a:t>
            </a:r>
            <a:endParaRPr lang="en-US" sz="2800" dirty="0">
              <a:latin typeface="+mj-lt"/>
            </a:endParaRPr>
          </a:p>
        </p:txBody>
      </p:sp>
      <p:sp>
        <p:nvSpPr>
          <p:cNvPr id="6" name="Subtitle 2">
            <a:extLst>
              <a:ext uri="{FF2B5EF4-FFF2-40B4-BE49-F238E27FC236}">
                <a16:creationId xmlns:a16="http://schemas.microsoft.com/office/drawing/2014/main" id="{5245B9F2-B0E5-0FAE-D44F-5B5B08404AFF}"/>
              </a:ext>
            </a:extLst>
          </p:cNvPr>
          <p:cNvSpPr txBox="1">
            <a:spLocks/>
          </p:cNvSpPr>
          <p:nvPr/>
        </p:nvSpPr>
        <p:spPr>
          <a:xfrm>
            <a:off x="6912550" y="4541838"/>
            <a:ext cx="9144000" cy="238759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vi-VN" sz="2000" dirty="0">
                <a:latin typeface="+mj-lt"/>
              </a:rPr>
              <a:t>Nguyễn Thị Kiều Trang MSV 22022166</a:t>
            </a:r>
          </a:p>
          <a:p>
            <a:pPr algn="l"/>
            <a:r>
              <a:rPr lang="vi-VN" sz="2000" dirty="0">
                <a:latin typeface="+mj-lt"/>
              </a:rPr>
              <a:t>Lê Hoàng Trung MSV 22022177</a:t>
            </a:r>
            <a:br>
              <a:rPr lang="vi-VN" sz="2000" dirty="0">
                <a:latin typeface="+mj-lt"/>
              </a:rPr>
            </a:br>
            <a:r>
              <a:rPr lang="vi-VN" sz="2000" i="0" dirty="0">
                <a:effectLst/>
                <a:latin typeface="+mj-lt"/>
              </a:rPr>
              <a:t>Đào Quang Thái Dương MSV </a:t>
            </a:r>
            <a:r>
              <a:rPr lang="en-US" sz="2000" i="0" dirty="0">
                <a:effectLst/>
                <a:latin typeface="Times New Roman" panose="02020603050405020304" pitchFamily="18" charset="0"/>
                <a:cs typeface="Times New Roman" panose="02020603050405020304" pitchFamily="18" charset="0"/>
              </a:rPr>
              <a:t>20020006</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1477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9AA14-CDA5-59E2-9829-7DE9E09C84B5}"/>
              </a:ext>
            </a:extLst>
          </p:cNvPr>
          <p:cNvSpPr>
            <a:spLocks noGrp="1"/>
          </p:cNvSpPr>
          <p:nvPr>
            <p:ph type="title"/>
          </p:nvPr>
        </p:nvSpPr>
        <p:spPr/>
        <p:txBody>
          <a:bodyPr/>
          <a:lstStyle/>
          <a:p>
            <a:r>
              <a:rPr lang="vi-VN" dirty="0">
                <a:latin typeface="Times New Roman" panose="02020603050405020304" pitchFamily="18" charset="0"/>
                <a:cs typeface="Times New Roman" panose="02020603050405020304" pitchFamily="18" charset="0"/>
              </a:rPr>
              <a:t>Mục lục</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5C130B5-E7A1-EFF4-408C-643E3DDF9D02}"/>
              </a:ext>
            </a:extLst>
          </p:cNvPr>
          <p:cNvSpPr>
            <a:spLocks noGrp="1"/>
          </p:cNvSpPr>
          <p:nvPr>
            <p:ph idx="1"/>
          </p:nvPr>
        </p:nvSpPr>
        <p:spPr>
          <a:xfrm>
            <a:off x="1540565" y="2037660"/>
            <a:ext cx="10515600" cy="4351338"/>
          </a:xfrm>
        </p:spPr>
        <p:txBody>
          <a:bodyPr>
            <a:normAutofit/>
          </a:bodyPr>
          <a:lstStyle/>
          <a:p>
            <a:pPr marL="571500" indent="-571500">
              <a:buAutoNum type="romanUcPeriod"/>
            </a:pPr>
            <a:r>
              <a:rPr lang="vi-VN" sz="3200" dirty="0">
                <a:latin typeface="Times New Roman" panose="02020603050405020304" pitchFamily="18" charset="0"/>
                <a:cs typeface="Times New Roman" panose="02020603050405020304" pitchFamily="18" charset="0"/>
              </a:rPr>
              <a:t>Thặng dư tiêu dùng.</a:t>
            </a:r>
          </a:p>
          <a:p>
            <a:pPr marL="571500" indent="-571500">
              <a:buAutoNum type="romanUcPeriod"/>
            </a:pPr>
            <a:endParaRPr lang="vi-VN" sz="3200" dirty="0">
              <a:latin typeface="Times New Roman" panose="02020603050405020304" pitchFamily="18" charset="0"/>
              <a:cs typeface="Times New Roman" panose="02020603050405020304" pitchFamily="18" charset="0"/>
            </a:endParaRPr>
          </a:p>
          <a:p>
            <a:pPr marL="571500" indent="-571500">
              <a:buAutoNum type="romanUcPeriod"/>
            </a:pPr>
            <a:r>
              <a:rPr lang="vi-VN" sz="3200" dirty="0">
                <a:latin typeface="Times New Roman" panose="02020603050405020304" pitchFamily="18" charset="0"/>
                <a:cs typeface="Times New Roman" panose="02020603050405020304" pitchFamily="18" charset="0"/>
              </a:rPr>
              <a:t>Hạn chế của lý thuyết lợi ích.</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6212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Hình ảnh dấu chấm hỏi đẹp | Dấu chấm hỏi, Hình ảnh, Đang yêu">
            <a:extLst>
              <a:ext uri="{FF2B5EF4-FFF2-40B4-BE49-F238E27FC236}">
                <a16:creationId xmlns:a16="http://schemas.microsoft.com/office/drawing/2014/main" id="{E884BD40-3C07-B28C-C828-49342D3CE5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9683" y="2038560"/>
            <a:ext cx="4017893" cy="401789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6594E4C-AE57-6492-CAA2-707BC29CBD20}"/>
              </a:ext>
            </a:extLst>
          </p:cNvPr>
          <p:cNvSpPr>
            <a:spLocks noGrp="1"/>
          </p:cNvSpPr>
          <p:nvPr>
            <p:ph type="title"/>
          </p:nvPr>
        </p:nvSpPr>
        <p:spPr/>
        <p:txBody>
          <a:bodyPr>
            <a:normAutofit/>
          </a:bodyPr>
          <a:lstStyle/>
          <a:p>
            <a:r>
              <a:rPr lang="vi-VN" dirty="0">
                <a:latin typeface="Times New Roman" panose="02020603050405020304" pitchFamily="18" charset="0"/>
                <a:cs typeface="Times New Roman" panose="02020603050405020304" pitchFamily="18" charset="0"/>
              </a:rPr>
              <a:t>I. Thặng dư tiêu dùng</a:t>
            </a:r>
            <a:endParaRPr lang="en-US" sz="3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2A88B7E-C31C-EC6C-3CA3-1DE70C8F0A33}"/>
              </a:ext>
            </a:extLst>
          </p:cNvPr>
          <p:cNvSpPr txBox="1"/>
          <p:nvPr/>
        </p:nvSpPr>
        <p:spPr>
          <a:xfrm>
            <a:off x="2130809" y="2162457"/>
            <a:ext cx="7357748" cy="954107"/>
          </a:xfrm>
          <a:prstGeom prst="rect">
            <a:avLst/>
          </a:prstGeom>
          <a:noFill/>
        </p:spPr>
        <p:txBody>
          <a:bodyPr wrap="square">
            <a:spAutoFit/>
          </a:bodyPr>
          <a:lstStyle/>
          <a:p>
            <a:r>
              <a:rPr lang="en-GB" sz="2800" kern="100" dirty="0" err="1">
                <a:effectLst/>
                <a:latin typeface="Times New Roman" panose="02020603050405020304" pitchFamily="18" charset="0"/>
                <a:ea typeface="Noto Serif CJK SC"/>
                <a:cs typeface="Times New Roman" panose="02020603050405020304" pitchFamily="18" charset="0"/>
              </a:rPr>
              <a:t>Thặng</a:t>
            </a:r>
            <a:r>
              <a:rPr lang="en-GB" sz="2800" kern="100" dirty="0">
                <a:effectLst/>
                <a:latin typeface="Times New Roman" panose="02020603050405020304" pitchFamily="18" charset="0"/>
                <a:ea typeface="Noto Serif CJK SC"/>
                <a:cs typeface="Times New Roman" panose="02020603050405020304" pitchFamily="18" charset="0"/>
              </a:rPr>
              <a:t> </a:t>
            </a:r>
            <a:r>
              <a:rPr lang="en-GB" sz="2800" kern="100" dirty="0" err="1">
                <a:effectLst/>
                <a:latin typeface="Times New Roman" panose="02020603050405020304" pitchFamily="18" charset="0"/>
                <a:ea typeface="Noto Serif CJK SC"/>
                <a:cs typeface="Times New Roman" panose="02020603050405020304" pitchFamily="18" charset="0"/>
              </a:rPr>
              <a:t>dư</a:t>
            </a:r>
            <a:r>
              <a:rPr lang="en-GB" sz="2800" kern="100" dirty="0">
                <a:effectLst/>
                <a:latin typeface="Times New Roman" panose="02020603050405020304" pitchFamily="18" charset="0"/>
                <a:ea typeface="Noto Serif CJK SC"/>
                <a:cs typeface="Times New Roman" panose="02020603050405020304" pitchFamily="18" charset="0"/>
              </a:rPr>
              <a:t> </a:t>
            </a:r>
            <a:r>
              <a:rPr lang="en-GB" sz="2800" kern="100" dirty="0" err="1">
                <a:effectLst/>
                <a:latin typeface="Times New Roman" panose="02020603050405020304" pitchFamily="18" charset="0"/>
                <a:ea typeface="Noto Serif CJK SC"/>
                <a:cs typeface="Times New Roman" panose="02020603050405020304" pitchFamily="18" charset="0"/>
              </a:rPr>
              <a:t>tiêu</a:t>
            </a:r>
            <a:r>
              <a:rPr lang="en-GB" sz="2800" kern="100" dirty="0">
                <a:effectLst/>
                <a:latin typeface="Times New Roman" panose="02020603050405020304" pitchFamily="18" charset="0"/>
                <a:ea typeface="Noto Serif CJK SC"/>
                <a:cs typeface="Times New Roman" panose="02020603050405020304" pitchFamily="18" charset="0"/>
              </a:rPr>
              <a:t> </a:t>
            </a:r>
            <a:r>
              <a:rPr lang="en-GB" sz="2800" kern="100" dirty="0" err="1">
                <a:effectLst/>
                <a:latin typeface="Times New Roman" panose="02020603050405020304" pitchFamily="18" charset="0"/>
                <a:ea typeface="Noto Serif CJK SC"/>
                <a:cs typeface="Times New Roman" panose="02020603050405020304" pitchFamily="18" charset="0"/>
              </a:rPr>
              <a:t>dùng</a:t>
            </a:r>
            <a:r>
              <a:rPr lang="en-GB" sz="2800" kern="100" dirty="0">
                <a:effectLst/>
                <a:latin typeface="Times New Roman" panose="02020603050405020304" pitchFamily="18" charset="0"/>
                <a:ea typeface="Noto Serif CJK SC"/>
                <a:cs typeface="Times New Roman" panose="02020603050405020304" pitchFamily="18" charset="0"/>
              </a:rPr>
              <a:t> </a:t>
            </a:r>
            <a:r>
              <a:rPr lang="en-GB" sz="2800" kern="100" dirty="0" err="1">
                <a:effectLst/>
                <a:latin typeface="Times New Roman" panose="02020603050405020304" pitchFamily="18" charset="0"/>
                <a:ea typeface="Noto Serif CJK SC"/>
                <a:cs typeface="Times New Roman" panose="02020603050405020304" pitchFamily="18" charset="0"/>
              </a:rPr>
              <a:t>là</a:t>
            </a:r>
            <a:r>
              <a:rPr lang="en-GB" sz="2800" kern="100" dirty="0">
                <a:effectLst/>
                <a:latin typeface="Times New Roman" panose="02020603050405020304" pitchFamily="18" charset="0"/>
                <a:ea typeface="Noto Serif CJK SC"/>
                <a:cs typeface="Times New Roman" panose="02020603050405020304" pitchFamily="18" charset="0"/>
              </a:rPr>
              <a:t> </a:t>
            </a:r>
            <a:r>
              <a:rPr lang="en-GB" sz="2800" kern="100" dirty="0" err="1">
                <a:effectLst/>
                <a:latin typeface="Times New Roman" panose="02020603050405020304" pitchFamily="18" charset="0"/>
                <a:ea typeface="Noto Serif CJK SC"/>
                <a:cs typeface="Times New Roman" panose="02020603050405020304" pitchFamily="18" charset="0"/>
              </a:rPr>
              <a:t>gì</a:t>
            </a:r>
            <a:r>
              <a:rPr lang="en-GB" sz="2800" kern="100" dirty="0">
                <a:effectLst/>
                <a:latin typeface="Times New Roman" panose="02020603050405020304" pitchFamily="18" charset="0"/>
                <a:ea typeface="Noto Serif CJK SC"/>
                <a:cs typeface="Times New Roman" panose="02020603050405020304" pitchFamily="18" charset="0"/>
              </a:rPr>
              <a:t> ?</a:t>
            </a:r>
            <a:endParaRPr lang="en-US" sz="2800" kern="100" dirty="0">
              <a:effectLst/>
              <a:latin typeface="Times New Roman" panose="02020603050405020304" pitchFamily="18" charset="0"/>
              <a:ea typeface="Noto Serif CJK SC"/>
              <a:cs typeface="Times New Roman" panose="02020603050405020304" pitchFamily="18" charset="0"/>
            </a:endParaRPr>
          </a:p>
          <a:p>
            <a:r>
              <a:rPr lang="en-GB" sz="2800" kern="100" dirty="0">
                <a:effectLst/>
                <a:latin typeface="Times New Roman" panose="02020603050405020304" pitchFamily="18" charset="0"/>
                <a:ea typeface="Noto Serif CJK SC"/>
                <a:cs typeface="Times New Roman" panose="02020603050405020304" pitchFamily="18" charset="0"/>
              </a:rPr>
              <a:t> </a:t>
            </a:r>
            <a:endParaRPr lang="en-US" sz="2800" kern="100" dirty="0">
              <a:effectLst/>
              <a:latin typeface="Times New Roman" panose="02020603050405020304" pitchFamily="18" charset="0"/>
              <a:ea typeface="Noto Serif CJK SC"/>
              <a:cs typeface="Times New Roman" panose="02020603050405020304" pitchFamily="18" charset="0"/>
            </a:endParaRPr>
          </a:p>
        </p:txBody>
      </p:sp>
      <p:sp>
        <p:nvSpPr>
          <p:cNvPr id="7" name="TextBox 6">
            <a:extLst>
              <a:ext uri="{FF2B5EF4-FFF2-40B4-BE49-F238E27FC236}">
                <a16:creationId xmlns:a16="http://schemas.microsoft.com/office/drawing/2014/main" id="{2F6B4982-8CAF-A0AE-DD06-43F63A7F9D3F}"/>
              </a:ext>
            </a:extLst>
          </p:cNvPr>
          <p:cNvSpPr txBox="1"/>
          <p:nvPr/>
        </p:nvSpPr>
        <p:spPr>
          <a:xfrm>
            <a:off x="1378924" y="3465223"/>
            <a:ext cx="9434152" cy="2308324"/>
          </a:xfrm>
          <a:prstGeom prst="rect">
            <a:avLst/>
          </a:prstGeom>
          <a:noFill/>
        </p:spPr>
        <p:txBody>
          <a:bodyPr wrap="square">
            <a:spAutoFit/>
          </a:bodyPr>
          <a:lstStyle/>
          <a:p>
            <a:r>
              <a:rPr lang="en-GB" sz="2400" kern="100" dirty="0" err="1">
                <a:effectLst/>
                <a:latin typeface="Times New Roman" panose="02020603050405020304" pitchFamily="18" charset="0"/>
                <a:ea typeface="Noto Serif CJK SC"/>
                <a:cs typeface="Times New Roman" panose="02020603050405020304" pitchFamily="18" charset="0"/>
              </a:rPr>
              <a:t>Thặng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dư</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tiêu</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dùng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là</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phần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chênh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lệch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giữa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giá</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mà</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một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người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tiêu</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dùng</a:t>
            </a:r>
            <a:r>
              <a:rPr lang="en-GB" sz="2400" kern="100" dirty="0">
                <a:effectLst/>
                <a:latin typeface="Times New Roman" panose="02020603050405020304" pitchFamily="18" charset="0"/>
                <a:ea typeface="Noto Serif CJK SC"/>
                <a:cs typeface="Times New Roman" panose="02020603050405020304" pitchFamily="18" charset="0"/>
              </a:rPr>
              <a:t> </a:t>
            </a:r>
            <a:r>
              <a:rPr lang="vi-VN" sz="2400" kern="100" dirty="0">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sẵn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sàng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trả</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để</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mua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được</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một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hàng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hóa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và</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giá</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mà</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người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tiêu</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dùng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đó</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thực</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sự</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phải</a:t>
            </a:r>
            <a:r>
              <a:rPr lang="en-GB" sz="2400" kern="100" dirty="0">
                <a:effectLst/>
                <a:latin typeface="Times New Roman" panose="02020603050405020304" pitchFamily="18" charset="0"/>
                <a:ea typeface="Noto Serif CJK SC"/>
                <a:cs typeface="Times New Roman" panose="02020603050405020304" pitchFamily="18" charset="0"/>
              </a:rPr>
              <a:t> </a:t>
            </a:r>
            <a:r>
              <a:rPr lang="vi-VN" sz="2400" kern="100" dirty="0">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trả</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giá</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thị</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trường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khi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mua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hàng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hóa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đó</a:t>
            </a:r>
            <a:r>
              <a:rPr lang="en-GB" sz="2400" kern="100" dirty="0">
                <a:effectLst/>
                <a:latin typeface="Times New Roman" panose="02020603050405020304" pitchFamily="18" charset="0"/>
                <a:ea typeface="Noto Serif CJK SC"/>
                <a:cs typeface="Times New Roman" panose="02020603050405020304" pitchFamily="18" charset="0"/>
              </a:rPr>
              <a:t>.</a:t>
            </a:r>
            <a:endParaRPr lang="vi-VN" sz="2400" kern="100" dirty="0">
              <a:effectLst/>
              <a:latin typeface="Times New Roman" panose="02020603050405020304" pitchFamily="18" charset="0"/>
              <a:ea typeface="Noto Serif CJK SC"/>
              <a:cs typeface="Times New Roman" panose="02020603050405020304" pitchFamily="18" charset="0"/>
            </a:endParaRPr>
          </a:p>
          <a:p>
            <a:endParaRPr lang="en-US" sz="2400" kern="100" dirty="0">
              <a:effectLst/>
              <a:latin typeface="Times New Roman" panose="02020603050405020304" pitchFamily="18" charset="0"/>
              <a:ea typeface="Noto Serif CJK SC"/>
              <a:cs typeface="Times New Roman" panose="02020603050405020304" pitchFamily="18" charset="0"/>
            </a:endParaRPr>
          </a:p>
          <a:p>
            <a:r>
              <a:rPr lang="en-GB" sz="2400" kern="100" dirty="0" err="1">
                <a:effectLst/>
                <a:latin typeface="Times New Roman" panose="02020603050405020304" pitchFamily="18" charset="0"/>
                <a:ea typeface="Noto Serif CJK SC"/>
                <a:cs typeface="Times New Roman" panose="02020603050405020304" pitchFamily="18" charset="0"/>
              </a:rPr>
              <a:t>Thặng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dư</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tiêu</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dùng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phản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ánh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sự</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chênh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lệch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giữa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lợi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ích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của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người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tiêu</a:t>
            </a:r>
            <a:r>
              <a:rPr lang="en-GB" sz="2400" kern="100" dirty="0">
                <a:effectLst/>
                <a:latin typeface="Times New Roman" panose="02020603050405020304" pitchFamily="18" charset="0"/>
                <a:ea typeface="Noto Serif CJK SC"/>
                <a:cs typeface="Times New Roman" panose="02020603050405020304" pitchFamily="18" charset="0"/>
              </a:rPr>
              <a:t> </a:t>
            </a:r>
            <a:endParaRPr lang="en-US" sz="2400" kern="100" dirty="0">
              <a:effectLst/>
              <a:latin typeface="Times New Roman" panose="02020603050405020304" pitchFamily="18" charset="0"/>
              <a:ea typeface="Noto Serif CJK SC"/>
              <a:cs typeface="Times New Roman" panose="02020603050405020304" pitchFamily="18" charset="0"/>
            </a:endParaRPr>
          </a:p>
          <a:p>
            <a:r>
              <a:rPr lang="en-GB" sz="2400" kern="100" dirty="0" err="1">
                <a:effectLst/>
                <a:latin typeface="Times New Roman" panose="02020603050405020304" pitchFamily="18" charset="0"/>
                <a:ea typeface="Noto Serif CJK SC"/>
                <a:cs typeface="Times New Roman" panose="02020603050405020304" pitchFamily="18" charset="0"/>
              </a:rPr>
              <a:t>dùng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một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đơn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vị</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hàng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hóa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nào</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đó</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với</a:t>
            </a:r>
            <a:r>
              <a:rPr lang="en-GB" sz="2400" kern="100" dirty="0">
                <a:effectLst/>
                <a:latin typeface="Times New Roman" panose="02020603050405020304" pitchFamily="18" charset="0"/>
                <a:ea typeface="Noto Serif CJK SC"/>
                <a:cs typeface="Times New Roman" panose="02020603050405020304" pitchFamily="18" charset="0"/>
              </a:rPr>
              <a:t> chi </a:t>
            </a:r>
            <a:r>
              <a:rPr lang="en-GB" sz="2400" kern="100" dirty="0" err="1">
                <a:effectLst/>
                <a:latin typeface="Times New Roman" panose="02020603050405020304" pitchFamily="18" charset="0"/>
                <a:ea typeface="Noto Serif CJK SC"/>
                <a:cs typeface="Times New Roman" panose="02020603050405020304" pitchFamily="18" charset="0"/>
              </a:rPr>
              <a:t>phí</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thực</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tế</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để</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có</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được</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lợi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ích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đó</a:t>
            </a:r>
            <a:endParaRPr lang="en-US" sz="2400" kern="100" dirty="0">
              <a:effectLst/>
              <a:latin typeface="Times New Roman" panose="02020603050405020304" pitchFamily="18" charset="0"/>
              <a:ea typeface="Noto Serif CJK SC"/>
              <a:cs typeface="Times New Roman" panose="02020603050405020304" pitchFamily="18" charset="0"/>
            </a:endParaRPr>
          </a:p>
        </p:txBody>
      </p:sp>
      <p:sp>
        <p:nvSpPr>
          <p:cNvPr id="11" name="TextBox 10">
            <a:extLst>
              <a:ext uri="{FF2B5EF4-FFF2-40B4-BE49-F238E27FC236}">
                <a16:creationId xmlns:a16="http://schemas.microsoft.com/office/drawing/2014/main" id="{42E5BC4F-D3ED-0FA2-ADE9-2594327E1205}"/>
              </a:ext>
            </a:extLst>
          </p:cNvPr>
          <p:cNvSpPr txBox="1"/>
          <p:nvPr/>
        </p:nvSpPr>
        <p:spPr>
          <a:xfrm>
            <a:off x="1060174" y="1453785"/>
            <a:ext cx="6096000" cy="584775"/>
          </a:xfrm>
          <a:prstGeom prst="rect">
            <a:avLst/>
          </a:prstGeom>
          <a:noFill/>
        </p:spPr>
        <p:txBody>
          <a:bodyPr wrap="square">
            <a:spAutoFit/>
          </a:bodyPr>
          <a:lstStyle/>
          <a:p>
            <a:r>
              <a:rPr lang="vi-VN" sz="3200" dirty="0">
                <a:latin typeface="Times New Roman" panose="02020603050405020304" pitchFamily="18" charset="0"/>
                <a:cs typeface="Times New Roman" panose="02020603050405020304" pitchFamily="18" charset="0"/>
              </a:rPr>
              <a:t>1. Khái niệm</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4534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1030"/>
                                        </p:tgtEl>
                                        <p:attrNameLst>
                                          <p:attrName>style.visibility</p:attrName>
                                        </p:attrNameLst>
                                      </p:cBhvr>
                                      <p:to>
                                        <p:strVal val="visible"/>
                                      </p:to>
                                    </p:set>
                                    <p:animEffect transition="in" filter="fade">
                                      <p:cBhvr>
                                        <p:cTn id="16" dur="500"/>
                                        <p:tgtEl>
                                          <p:spTgt spid="10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1030"/>
                                        </p:tgtEl>
                                      </p:cBhvr>
                                    </p:animEffect>
                                    <p:set>
                                      <p:cBhvr>
                                        <p:cTn id="21" dur="1" fill="hold">
                                          <p:stCondLst>
                                            <p:cond delay="499"/>
                                          </p:stCondLst>
                                        </p:cTn>
                                        <p:tgtEl>
                                          <p:spTgt spid="1030"/>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EFFCD-8D96-7D95-CA98-1FD05E33DB36}"/>
              </a:ext>
            </a:extLst>
          </p:cNvPr>
          <p:cNvSpPr>
            <a:spLocks noGrp="1"/>
          </p:cNvSpPr>
          <p:nvPr>
            <p:ph type="title"/>
          </p:nvPr>
        </p:nvSpPr>
        <p:spPr>
          <a:xfrm>
            <a:off x="705678" y="815699"/>
            <a:ext cx="10515600" cy="1325563"/>
          </a:xfrm>
        </p:spPr>
        <p:txBody>
          <a:bodyPr>
            <a:normAutofit/>
          </a:bodyPr>
          <a:lstStyle/>
          <a:p>
            <a:r>
              <a:rPr lang="vi-VN" sz="3200" dirty="0"/>
              <a:t>2. Công thức tính thặng dư tiêu dùng</a:t>
            </a:r>
            <a:br>
              <a:rPr lang="vi-VN" sz="3200" dirty="0"/>
            </a:br>
            <a:endParaRPr lang="en-US" sz="3200" dirty="0"/>
          </a:p>
        </p:txBody>
      </p:sp>
      <p:sp>
        <p:nvSpPr>
          <p:cNvPr id="3" name="Content Placeholder 2">
            <a:extLst>
              <a:ext uri="{FF2B5EF4-FFF2-40B4-BE49-F238E27FC236}">
                <a16:creationId xmlns:a16="http://schemas.microsoft.com/office/drawing/2014/main" id="{074799A7-1750-3E3F-E9A6-96AB5DB7C1A6}"/>
              </a:ext>
            </a:extLst>
          </p:cNvPr>
          <p:cNvSpPr>
            <a:spLocks noGrp="1"/>
          </p:cNvSpPr>
          <p:nvPr>
            <p:ph idx="1"/>
          </p:nvPr>
        </p:nvSpPr>
        <p:spPr>
          <a:xfrm>
            <a:off x="838200" y="1825625"/>
            <a:ext cx="10515600" cy="2123523"/>
          </a:xfrm>
        </p:spPr>
        <p:txBody>
          <a:bodyPr>
            <a:normAutofit lnSpcReduction="10000"/>
          </a:bodyPr>
          <a:lstStyle/>
          <a:p>
            <a:r>
              <a:rPr lang="en-GB" sz="2400" kern="100" dirty="0" err="1">
                <a:effectLst/>
                <a:latin typeface="Liberation Serif"/>
                <a:ea typeface="Noto Serif CJK SC"/>
                <a:cs typeface="Lohit Devanagari"/>
              </a:rPr>
              <a:t>Công</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thức</a:t>
            </a:r>
            <a:r>
              <a:rPr lang="en-GB" sz="2400" kern="100" dirty="0">
                <a:effectLst/>
                <a:latin typeface="Liberation Serif"/>
                <a:ea typeface="Noto Serif CJK SC"/>
                <a:cs typeface="Lohit Devanagari"/>
              </a:rPr>
              <a:t>:  CS = MU – MC</a:t>
            </a:r>
            <a:endParaRPr lang="en-US" sz="2400" kern="100" dirty="0">
              <a:effectLst/>
              <a:latin typeface="Liberation Serif"/>
              <a:ea typeface="Noto Serif CJK SC"/>
              <a:cs typeface="Lohit Devanagari"/>
            </a:endParaRPr>
          </a:p>
          <a:p>
            <a:pPr marL="0" indent="0">
              <a:buNone/>
            </a:pPr>
            <a:r>
              <a:rPr lang="vi-VN" sz="2400" kern="100" dirty="0">
                <a:effectLst/>
                <a:latin typeface="Liberation Serif"/>
                <a:ea typeface="Noto Serif CJK SC"/>
                <a:cs typeface="Lohit Devanagari"/>
              </a:rPr>
              <a:t>             </a:t>
            </a:r>
            <a:r>
              <a:rPr lang="en-GB" sz="2400" kern="100" dirty="0">
                <a:effectLst/>
                <a:latin typeface="Liberation Serif"/>
                <a:ea typeface="Noto Serif CJK SC"/>
                <a:cs typeface="Lohit Devanagari"/>
              </a:rPr>
              <a:t>Trong </a:t>
            </a:r>
            <a:r>
              <a:rPr lang="en-GB" sz="2400" kern="100" dirty="0" err="1">
                <a:effectLst/>
                <a:latin typeface="Liberation Serif"/>
                <a:ea typeface="Noto Serif CJK SC"/>
                <a:cs typeface="Lohit Devanagari"/>
              </a:rPr>
              <a:t>đó</a:t>
            </a:r>
            <a:r>
              <a:rPr lang="en-GB" sz="2400" kern="100" dirty="0">
                <a:effectLst/>
                <a:latin typeface="Liberation Serif"/>
                <a:ea typeface="Noto Serif CJK SC"/>
                <a:cs typeface="Lohit Devanagari"/>
              </a:rPr>
              <a:t>: </a:t>
            </a:r>
            <a:endParaRPr lang="en-US" sz="2400" kern="100" dirty="0">
              <a:effectLst/>
              <a:latin typeface="Liberation Serif"/>
              <a:ea typeface="Noto Serif CJK SC"/>
              <a:cs typeface="Lohit Devanagari"/>
            </a:endParaRPr>
          </a:p>
          <a:p>
            <a:pPr lvl="3"/>
            <a:r>
              <a:rPr lang="en-GB" sz="2400" kern="100" dirty="0">
                <a:effectLst/>
                <a:latin typeface="Liberation Serif"/>
                <a:ea typeface="Noto Serif CJK SC"/>
                <a:cs typeface="Lohit Devanagari"/>
              </a:rPr>
              <a:t>CS: </a:t>
            </a:r>
            <a:r>
              <a:rPr lang="en-GB" sz="2400" kern="100" dirty="0" err="1">
                <a:effectLst/>
                <a:latin typeface="Liberation Serif"/>
                <a:ea typeface="Noto Serif CJK SC"/>
                <a:cs typeface="Lohit Devanagari"/>
              </a:rPr>
              <a:t>Thặng</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dư</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tiêu</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dùng</a:t>
            </a:r>
            <a:endParaRPr lang="en-US" sz="2400" kern="100" dirty="0">
              <a:effectLst/>
              <a:latin typeface="Liberation Serif"/>
              <a:ea typeface="Noto Serif CJK SC"/>
              <a:cs typeface="Lohit Devanagari"/>
            </a:endParaRPr>
          </a:p>
          <a:p>
            <a:pPr lvl="3"/>
            <a:r>
              <a:rPr lang="en-GB" sz="2400" kern="100" dirty="0">
                <a:effectLst/>
                <a:latin typeface="Liberation Serif"/>
                <a:ea typeface="Noto Serif CJK SC"/>
                <a:cs typeface="Lohit Devanagari"/>
              </a:rPr>
              <a:t>MU: </a:t>
            </a:r>
            <a:r>
              <a:rPr lang="en-GB" sz="2400" kern="100" dirty="0" err="1">
                <a:effectLst/>
                <a:latin typeface="Liberation Serif"/>
                <a:ea typeface="Noto Serif CJK SC"/>
                <a:cs typeface="Lohit Devanagari"/>
              </a:rPr>
              <a:t>Lợi</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ích</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cận</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biên</a:t>
            </a:r>
            <a:endParaRPr lang="en-US" sz="2400" kern="100" dirty="0">
              <a:effectLst/>
              <a:latin typeface="Liberation Serif"/>
              <a:ea typeface="Noto Serif CJK SC"/>
              <a:cs typeface="Lohit Devanagari"/>
            </a:endParaRPr>
          </a:p>
          <a:p>
            <a:pPr lvl="3"/>
            <a:r>
              <a:rPr lang="en-GB" sz="2400" kern="100" dirty="0">
                <a:effectLst/>
                <a:latin typeface="Liberation Serif"/>
                <a:ea typeface="Noto Serif CJK SC"/>
                <a:cs typeface="Lohit Devanagari"/>
              </a:rPr>
              <a:t>MC: Chi </a:t>
            </a:r>
            <a:r>
              <a:rPr lang="en-GB" sz="2400" kern="100" dirty="0" err="1">
                <a:effectLst/>
                <a:latin typeface="Liberation Serif"/>
                <a:ea typeface="Noto Serif CJK SC"/>
                <a:cs typeface="Lohit Devanagari"/>
              </a:rPr>
              <a:t>phí</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cận</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biên</a:t>
            </a:r>
            <a:endParaRPr lang="en-US" sz="2400" kern="100" dirty="0">
              <a:effectLst/>
              <a:latin typeface="Liberation Serif"/>
              <a:ea typeface="Noto Serif CJK SC"/>
              <a:cs typeface="Lohit Devanagari"/>
            </a:endParaRPr>
          </a:p>
          <a:p>
            <a:endParaRPr lang="en-US" sz="2400" dirty="0"/>
          </a:p>
        </p:txBody>
      </p:sp>
      <p:sp>
        <p:nvSpPr>
          <p:cNvPr id="5" name="TextBox 4">
            <a:extLst>
              <a:ext uri="{FF2B5EF4-FFF2-40B4-BE49-F238E27FC236}">
                <a16:creationId xmlns:a16="http://schemas.microsoft.com/office/drawing/2014/main" id="{B2234C7F-037D-5936-C828-1B012371D8FF}"/>
              </a:ext>
            </a:extLst>
          </p:cNvPr>
          <p:cNvSpPr txBox="1"/>
          <p:nvPr/>
        </p:nvSpPr>
        <p:spPr>
          <a:xfrm>
            <a:off x="1093304" y="4129814"/>
            <a:ext cx="10005391" cy="1938992"/>
          </a:xfrm>
          <a:prstGeom prst="rect">
            <a:avLst/>
          </a:prstGeom>
          <a:noFill/>
        </p:spPr>
        <p:txBody>
          <a:bodyPr wrap="square">
            <a:spAutoFit/>
          </a:bodyPr>
          <a:lstStyle/>
          <a:p>
            <a:r>
              <a:rPr lang="vi-VN" sz="2400" kern="100" dirty="0">
                <a:latin typeface="Liberation Serif"/>
                <a:ea typeface="Noto Serif CJK SC"/>
                <a:cs typeface="Lohit Devanagari"/>
              </a:rPr>
              <a:t>M</a:t>
            </a:r>
            <a:r>
              <a:rPr lang="en-GB" sz="2400" kern="100" dirty="0" err="1">
                <a:effectLst/>
                <a:latin typeface="Liberation Serif"/>
                <a:ea typeface="Noto Serif CJK SC"/>
                <a:cs typeface="Lohit Devanagari"/>
              </a:rPr>
              <a:t>ối</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quan</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hệ</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giữa</a:t>
            </a:r>
            <a:r>
              <a:rPr lang="en-GB" sz="2400" kern="100" dirty="0">
                <a:effectLst/>
                <a:latin typeface="Liberation Serif"/>
                <a:ea typeface="Noto Serif CJK SC"/>
                <a:cs typeface="Lohit Devanagari"/>
              </a:rPr>
              <a:t> MU </a:t>
            </a:r>
            <a:r>
              <a:rPr lang="en-GB" sz="2400" kern="100" dirty="0" err="1">
                <a:effectLst/>
                <a:latin typeface="Liberation Serif"/>
                <a:ea typeface="Noto Serif CJK SC"/>
                <a:cs typeface="Lohit Devanagari"/>
              </a:rPr>
              <a:t>và</a:t>
            </a:r>
            <a:r>
              <a:rPr lang="en-GB" sz="2400" kern="100" dirty="0">
                <a:effectLst/>
                <a:latin typeface="Liberation Serif"/>
                <a:ea typeface="Noto Serif CJK SC"/>
                <a:cs typeface="Lohit Devanagari"/>
              </a:rPr>
              <a:t> MC </a:t>
            </a:r>
            <a:r>
              <a:rPr lang="en-GB" sz="2400" kern="100" dirty="0" err="1">
                <a:effectLst/>
                <a:latin typeface="Liberation Serif"/>
                <a:ea typeface="Noto Serif CJK SC"/>
                <a:cs typeface="Lohit Devanagari"/>
              </a:rPr>
              <a:t>với</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hành</a:t>
            </a:r>
            <a:r>
              <a:rPr lang="en-GB" sz="2400" kern="100" dirty="0">
                <a:effectLst/>
                <a:latin typeface="Liberation Serif"/>
                <a:ea typeface="Noto Serif CJK SC"/>
                <a:cs typeface="Lohit Devanagari"/>
              </a:rPr>
              <a:t> vi </a:t>
            </a:r>
            <a:r>
              <a:rPr lang="en-GB" sz="2400" kern="100" dirty="0" err="1">
                <a:effectLst/>
                <a:latin typeface="Liberation Serif"/>
                <a:ea typeface="Noto Serif CJK SC"/>
                <a:cs typeface="Lohit Devanagari"/>
              </a:rPr>
              <a:t>người</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tiêu</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dùng</a:t>
            </a:r>
            <a:r>
              <a:rPr lang="en-GB" sz="2400" kern="100" dirty="0">
                <a:effectLst/>
                <a:latin typeface="Liberation Serif"/>
                <a:ea typeface="Noto Serif CJK SC"/>
                <a:cs typeface="Lohit Devanagari"/>
              </a:rPr>
              <a:t> ta </a:t>
            </a:r>
            <a:r>
              <a:rPr lang="en-GB" sz="2400" kern="100" dirty="0" err="1">
                <a:effectLst/>
                <a:latin typeface="Liberation Serif"/>
                <a:ea typeface="Noto Serif CJK SC"/>
                <a:cs typeface="Lohit Devanagari"/>
              </a:rPr>
              <a:t>có</a:t>
            </a:r>
            <a:r>
              <a:rPr lang="en-GB" sz="2400" kern="100" dirty="0">
                <a:effectLst/>
                <a:latin typeface="Liberation Serif"/>
                <a:ea typeface="Noto Serif CJK SC"/>
                <a:cs typeface="Lohit Devanagari"/>
              </a:rPr>
              <a:t>:</a:t>
            </a:r>
            <a:endParaRPr lang="en-US" sz="2400" kern="100" dirty="0">
              <a:effectLst/>
              <a:latin typeface="Liberation Serif"/>
              <a:ea typeface="Noto Serif CJK SC"/>
              <a:cs typeface="Lohit Devanagari"/>
            </a:endParaRPr>
          </a:p>
          <a:p>
            <a:r>
              <a:rPr lang="en-GB" sz="2400" kern="100" dirty="0">
                <a:effectLst/>
                <a:latin typeface="Liberation Serif"/>
                <a:ea typeface="Noto Serif CJK SC"/>
                <a:cs typeface="Lohit Devanagari"/>
              </a:rPr>
              <a:t>MU &gt; MC =&gt; CS &gt; 0; </a:t>
            </a:r>
            <a:r>
              <a:rPr lang="en-GB" sz="2400" kern="100" dirty="0" err="1">
                <a:effectLst/>
                <a:latin typeface="Liberation Serif"/>
                <a:ea typeface="Noto Serif CJK SC"/>
                <a:cs typeface="Lohit Devanagari"/>
              </a:rPr>
              <a:t>Người</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tiêu</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dùng</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nên</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tăng</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mức</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tiêu</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dùng</a:t>
            </a:r>
            <a:r>
              <a:rPr lang="en-GB" sz="2400" kern="100" dirty="0">
                <a:effectLst/>
                <a:latin typeface="Liberation Serif"/>
                <a:ea typeface="Noto Serif CJK SC"/>
                <a:cs typeface="Lohit Devanagari"/>
              </a:rPr>
              <a:t>. </a:t>
            </a:r>
            <a:endParaRPr lang="en-US" sz="2400" kern="100" dirty="0">
              <a:effectLst/>
              <a:latin typeface="Liberation Serif"/>
              <a:ea typeface="Noto Serif CJK SC"/>
              <a:cs typeface="Lohit Devanagari"/>
            </a:endParaRPr>
          </a:p>
          <a:p>
            <a:r>
              <a:rPr lang="en-GB" sz="2400" kern="100" dirty="0">
                <a:effectLst/>
                <a:latin typeface="Liberation Serif"/>
                <a:ea typeface="Noto Serif CJK SC"/>
                <a:cs typeface="Lohit Devanagari"/>
              </a:rPr>
              <a:t>MU &lt; MC =&gt; CS &lt; 0; </a:t>
            </a:r>
            <a:r>
              <a:rPr lang="en-GB" sz="2400" kern="100" dirty="0" err="1">
                <a:effectLst/>
                <a:latin typeface="Liberation Serif"/>
                <a:ea typeface="Noto Serif CJK SC"/>
                <a:cs typeface="Lohit Devanagari"/>
              </a:rPr>
              <a:t>Người</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tiêu</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dùng</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cần</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giảm</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mức</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tiêu</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dùng</a:t>
            </a:r>
            <a:r>
              <a:rPr lang="en-GB" sz="2400" kern="100" dirty="0">
                <a:effectLst/>
                <a:latin typeface="Liberation Serif"/>
                <a:ea typeface="Noto Serif CJK SC"/>
                <a:cs typeface="Lohit Devanagari"/>
              </a:rPr>
              <a:t>. </a:t>
            </a:r>
            <a:endParaRPr lang="en-US" sz="2400" kern="100" dirty="0">
              <a:effectLst/>
              <a:latin typeface="Liberation Serif"/>
              <a:ea typeface="Noto Serif CJK SC"/>
              <a:cs typeface="Lohit Devanagari"/>
            </a:endParaRPr>
          </a:p>
          <a:p>
            <a:r>
              <a:rPr lang="en-GB" sz="2400" kern="100" dirty="0">
                <a:effectLst/>
                <a:latin typeface="Liberation Serif"/>
                <a:ea typeface="Noto Serif CJK SC"/>
                <a:cs typeface="Lohit Devanagari"/>
              </a:rPr>
              <a:t>MU = MC =&gt; CS = 0; </a:t>
            </a:r>
            <a:r>
              <a:rPr lang="en-GB" sz="2400" kern="100" dirty="0" err="1">
                <a:effectLst/>
                <a:latin typeface="Liberation Serif"/>
                <a:ea typeface="Noto Serif CJK SC"/>
                <a:cs typeface="Lohit Devanagari"/>
              </a:rPr>
              <a:t>Người</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tiêu</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dùng</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cần</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dừng</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mức</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tiêu</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dùng</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để</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đạt</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lợi</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ích</a:t>
            </a:r>
            <a:r>
              <a:rPr lang="en-GB" sz="2400" kern="100" dirty="0">
                <a:effectLst/>
                <a:latin typeface="Liberation Serif"/>
                <a:ea typeface="Noto Serif CJK SC"/>
                <a:cs typeface="Lohit Devanagari"/>
              </a:rPr>
              <a:t> </a:t>
            </a:r>
            <a:endParaRPr lang="en-US" sz="2400" kern="100" dirty="0">
              <a:effectLst/>
              <a:latin typeface="Liberation Serif"/>
              <a:ea typeface="Noto Serif CJK SC"/>
              <a:cs typeface="Lohit Devanagari"/>
            </a:endParaRPr>
          </a:p>
          <a:p>
            <a:r>
              <a:rPr lang="en-GB" sz="2400" kern="100" dirty="0" err="1">
                <a:effectLst/>
                <a:latin typeface="Liberation Serif"/>
                <a:ea typeface="Noto Serif CJK SC"/>
                <a:cs typeface="Lohit Devanagari"/>
              </a:rPr>
              <a:t>là</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lớn</a:t>
            </a:r>
            <a:r>
              <a:rPr lang="en-GB" sz="2400" kern="100" dirty="0">
                <a:effectLst/>
                <a:latin typeface="Liberation Serif"/>
                <a:ea typeface="Noto Serif CJK SC"/>
                <a:cs typeface="Lohit Devanagari"/>
              </a:rPr>
              <a:t> </a:t>
            </a:r>
            <a:r>
              <a:rPr lang="en-GB" sz="2400" kern="100" dirty="0" err="1">
                <a:effectLst/>
                <a:latin typeface="Liberation Serif"/>
                <a:ea typeface="Noto Serif CJK SC"/>
                <a:cs typeface="Lohit Devanagari"/>
              </a:rPr>
              <a:t>nhất</a:t>
            </a:r>
            <a:r>
              <a:rPr lang="en-GB" sz="2400" kern="100" dirty="0">
                <a:effectLst/>
                <a:latin typeface="Liberation Serif"/>
                <a:ea typeface="Noto Serif CJK SC"/>
                <a:cs typeface="Lohit Devanagari"/>
              </a:rPr>
              <a:t>. </a:t>
            </a:r>
            <a:endParaRPr lang="en-US" sz="2400" kern="100" dirty="0">
              <a:effectLst/>
              <a:latin typeface="Liberation Serif"/>
              <a:ea typeface="Noto Serif CJK SC"/>
              <a:cs typeface="Lohit Devanagari"/>
            </a:endParaRPr>
          </a:p>
        </p:txBody>
      </p:sp>
    </p:spTree>
    <p:extLst>
      <p:ext uri="{BB962C8B-B14F-4D97-AF65-F5344CB8AC3E}">
        <p14:creationId xmlns:p14="http://schemas.microsoft.com/office/powerpoint/2010/main" val="1102050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04C74-F07B-448A-9A77-6B0EA5B7F185}"/>
              </a:ext>
            </a:extLst>
          </p:cNvPr>
          <p:cNvSpPr>
            <a:spLocks noGrp="1"/>
          </p:cNvSpPr>
          <p:nvPr>
            <p:ph type="title"/>
          </p:nvPr>
        </p:nvSpPr>
        <p:spPr>
          <a:xfrm>
            <a:off x="735496" y="-662782"/>
            <a:ext cx="10515600" cy="1325563"/>
          </a:xfrm>
        </p:spPr>
        <p:txBody>
          <a:bodyPr>
            <a:normAutofit/>
          </a:bodyPr>
          <a:lstStyle/>
          <a:p>
            <a:r>
              <a:rPr lang="vi-VN" sz="3200" dirty="0">
                <a:latin typeface="Times New Roman" panose="02020603050405020304" pitchFamily="18" charset="0"/>
                <a:cs typeface="Times New Roman" panose="02020603050405020304" pitchFamily="18" charset="0"/>
              </a:rPr>
              <a:t>3. Ví dụ</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8FDF3F-1324-68C9-815C-CD785C634960}"/>
              </a:ext>
            </a:extLst>
          </p:cNvPr>
          <p:cNvSpPr>
            <a:spLocks noGrp="1"/>
          </p:cNvSpPr>
          <p:nvPr>
            <p:ph idx="1"/>
          </p:nvPr>
        </p:nvSpPr>
        <p:spPr>
          <a:xfrm>
            <a:off x="1280491" y="710783"/>
            <a:ext cx="10108096" cy="1325562"/>
          </a:xfrm>
        </p:spPr>
        <p:txBody>
          <a:bodyPr>
            <a:normAutofit fontScale="92500"/>
          </a:bodyPr>
          <a:lstStyle/>
          <a:p>
            <a:r>
              <a:rPr lang="vi-VN" sz="2600" dirty="0">
                <a:latin typeface="Times New Roman" panose="02020603050405020304" pitchFamily="18" charset="0"/>
                <a:cs typeface="Times New Roman" panose="02020603050405020304" pitchFamily="18" charset="0"/>
              </a:rPr>
              <a:t>Bài toán:</a:t>
            </a:r>
            <a:r>
              <a:rPr lang="en-GB" sz="2600" kern="100" dirty="0">
                <a:effectLst/>
                <a:latin typeface="Times New Roman" panose="02020603050405020304" pitchFamily="18" charset="0"/>
                <a:ea typeface="Noto Serif CJK SC"/>
                <a:cs typeface="Times New Roman" panose="02020603050405020304" pitchFamily="18" charset="0"/>
              </a:rPr>
              <a:t> </a:t>
            </a:r>
            <a:r>
              <a:rPr lang="vi-VN" sz="2600" kern="100" dirty="0">
                <a:latin typeface="Times New Roman" panose="02020603050405020304" pitchFamily="18" charset="0"/>
                <a:ea typeface="Noto Serif CJK SC"/>
                <a:cs typeface="Times New Roman" panose="02020603050405020304" pitchFamily="18" charset="0"/>
              </a:rPr>
              <a:t>X</a:t>
            </a:r>
            <a:r>
              <a:rPr lang="en-GB" sz="2600" kern="100" dirty="0" err="1">
                <a:effectLst/>
                <a:latin typeface="Times New Roman" panose="02020603050405020304" pitchFamily="18" charset="0"/>
                <a:ea typeface="Noto Serif CJK SC"/>
                <a:cs typeface="Times New Roman" panose="02020603050405020304" pitchFamily="18" charset="0"/>
              </a:rPr>
              <a:t>em</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xét</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sự</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sẵn</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sàng</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thanh</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toán</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của</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người</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tiêu</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dùng</a:t>
            </a:r>
            <a:r>
              <a:rPr lang="en-GB" sz="2600" kern="100" dirty="0">
                <a:effectLst/>
                <a:latin typeface="Times New Roman" panose="02020603050405020304" pitchFamily="18" charset="0"/>
                <a:ea typeface="Noto Serif CJK SC"/>
                <a:cs typeface="Times New Roman" panose="02020603050405020304" pitchFamily="18" charset="0"/>
              </a:rPr>
              <a:t> A </a:t>
            </a:r>
            <a:r>
              <a:rPr lang="en-GB" sz="2600" kern="100" dirty="0" err="1">
                <a:effectLst/>
                <a:latin typeface="Times New Roman" panose="02020603050405020304" pitchFamily="18" charset="0"/>
                <a:ea typeface="Noto Serif CJK SC"/>
                <a:cs typeface="Times New Roman" panose="02020603050405020304" pitchFamily="18" charset="0"/>
              </a:rPr>
              <a:t>khi</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tiêu</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dùng</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sản</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phẩm</a:t>
            </a:r>
            <a:r>
              <a:rPr lang="en-GB" sz="2600" kern="100" dirty="0">
                <a:effectLst/>
                <a:latin typeface="Times New Roman" panose="02020603050405020304" pitchFamily="18" charset="0"/>
                <a:ea typeface="Noto Serif CJK SC"/>
                <a:cs typeface="Times New Roman" panose="02020603050405020304" pitchFamily="18" charset="0"/>
              </a:rPr>
              <a:t> bánh </a:t>
            </a:r>
            <a:r>
              <a:rPr lang="en-GB" sz="2600" kern="100" dirty="0" err="1">
                <a:effectLst/>
                <a:latin typeface="Times New Roman" panose="02020603050405020304" pitchFamily="18" charset="0"/>
                <a:ea typeface="Noto Serif CJK SC"/>
                <a:cs typeface="Times New Roman" panose="02020603050405020304" pitchFamily="18" charset="0"/>
              </a:rPr>
              <a:t>kem</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để</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hiểu</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rõ</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về</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cách</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xác</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định</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thặng</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dư</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tiêu</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dùng</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đối</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với</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mỗi</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cá</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nhân</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Biết</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rằng</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giá</a:t>
            </a:r>
            <a:r>
              <a:rPr lang="en-GB" sz="2600" kern="100" dirty="0">
                <a:effectLst/>
                <a:latin typeface="Times New Roman" panose="02020603050405020304" pitchFamily="18" charset="0"/>
                <a:ea typeface="Noto Serif CJK SC"/>
                <a:cs typeface="Times New Roman" panose="02020603050405020304" pitchFamily="18" charset="0"/>
              </a:rPr>
              <a:t> 1 </a:t>
            </a:r>
            <a:r>
              <a:rPr lang="en-GB" sz="2600" kern="100" dirty="0" err="1">
                <a:effectLst/>
                <a:latin typeface="Times New Roman" panose="02020603050405020304" pitchFamily="18" charset="0"/>
                <a:ea typeface="Noto Serif CJK SC"/>
                <a:cs typeface="Times New Roman" panose="02020603050405020304" pitchFamily="18" charset="0"/>
              </a:rPr>
              <a:t>chiếc</a:t>
            </a:r>
            <a:r>
              <a:rPr lang="en-GB" sz="2600" kern="100" dirty="0">
                <a:effectLst/>
                <a:latin typeface="Times New Roman" panose="02020603050405020304" pitchFamily="18" charset="0"/>
                <a:ea typeface="Noto Serif CJK SC"/>
                <a:cs typeface="Times New Roman" panose="02020603050405020304" pitchFamily="18" charset="0"/>
              </a:rPr>
              <a:t> bánh </a:t>
            </a:r>
            <a:r>
              <a:rPr lang="en-GB" sz="2600" kern="100" dirty="0" err="1">
                <a:effectLst/>
                <a:latin typeface="Times New Roman" panose="02020603050405020304" pitchFamily="18" charset="0"/>
                <a:ea typeface="Noto Serif CJK SC"/>
                <a:cs typeface="Times New Roman" panose="02020603050405020304" pitchFamily="18" charset="0"/>
              </a:rPr>
              <a:t>kem</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trên</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thị</a:t>
            </a:r>
            <a:r>
              <a:rPr lang="vi-VN" sz="2600" kern="100" dirty="0">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trường</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là</a:t>
            </a:r>
            <a:r>
              <a:rPr lang="en-GB" sz="2600" kern="100" dirty="0">
                <a:effectLst/>
                <a:latin typeface="Times New Roman" panose="02020603050405020304" pitchFamily="18" charset="0"/>
                <a:ea typeface="Noto Serif CJK SC"/>
                <a:cs typeface="Times New Roman" panose="02020603050405020304" pitchFamily="18" charset="0"/>
              </a:rPr>
              <a:t> 10 </a:t>
            </a:r>
            <a:r>
              <a:rPr lang="en-GB" sz="2600" kern="100" dirty="0" err="1">
                <a:effectLst/>
                <a:latin typeface="Times New Roman" panose="02020603050405020304" pitchFamily="18" charset="0"/>
                <a:ea typeface="Noto Serif CJK SC"/>
                <a:cs typeface="Times New Roman" panose="02020603050405020304" pitchFamily="18" charset="0"/>
              </a:rPr>
              <a:t>nghìn</a:t>
            </a:r>
            <a:r>
              <a:rPr lang="en-GB" sz="2600" kern="100" dirty="0">
                <a:effectLst/>
                <a:latin typeface="Times New Roman" panose="02020603050405020304" pitchFamily="18" charset="0"/>
                <a:ea typeface="Noto Serif CJK SC"/>
                <a:cs typeface="Times New Roman" panose="02020603050405020304" pitchFamily="18" charset="0"/>
              </a:rPr>
              <a:t> </a:t>
            </a:r>
            <a:r>
              <a:rPr lang="en-GB" sz="2600" kern="100" dirty="0" err="1">
                <a:effectLst/>
                <a:latin typeface="Times New Roman" panose="02020603050405020304" pitchFamily="18" charset="0"/>
                <a:ea typeface="Noto Serif CJK SC"/>
                <a:cs typeface="Times New Roman" panose="02020603050405020304" pitchFamily="18" charset="0"/>
              </a:rPr>
              <a:t>đồng</a:t>
            </a:r>
            <a:r>
              <a:rPr lang="en-GB" sz="2600" kern="100" dirty="0">
                <a:effectLst/>
                <a:latin typeface="Times New Roman" panose="02020603050405020304" pitchFamily="18" charset="0"/>
                <a:ea typeface="Noto Serif CJK SC"/>
                <a:cs typeface="Times New Roman" panose="02020603050405020304" pitchFamily="18" charset="0"/>
              </a:rPr>
              <a:t>.</a:t>
            </a:r>
            <a:endParaRPr lang="en-US" sz="2600" kern="100" dirty="0">
              <a:effectLst/>
              <a:latin typeface="Times New Roman" panose="02020603050405020304" pitchFamily="18" charset="0"/>
              <a:ea typeface="Noto Serif CJK SC"/>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5" name="Image1">
            <a:extLst>
              <a:ext uri="{FF2B5EF4-FFF2-40B4-BE49-F238E27FC236}">
                <a16:creationId xmlns:a16="http://schemas.microsoft.com/office/drawing/2014/main" id="{733109DD-750D-0E9A-4516-5B85C502ACD4}"/>
              </a:ext>
            </a:extLst>
          </p:cNvPr>
          <p:cNvPicPr>
            <a:picLocks noChangeAspect="1"/>
          </p:cNvPicPr>
          <p:nvPr/>
        </p:nvPicPr>
        <p:blipFill>
          <a:blip r:embed="rId2"/>
          <a:stretch>
            <a:fillRect/>
          </a:stretch>
        </p:blipFill>
        <p:spPr bwMode="auto">
          <a:xfrm>
            <a:off x="5858290" y="2061751"/>
            <a:ext cx="5657850" cy="1590675"/>
          </a:xfrm>
          <a:prstGeom prst="rect">
            <a:avLst/>
          </a:prstGeom>
        </p:spPr>
      </p:pic>
      <p:pic>
        <p:nvPicPr>
          <p:cNvPr id="6" name="Image2">
            <a:extLst>
              <a:ext uri="{FF2B5EF4-FFF2-40B4-BE49-F238E27FC236}">
                <a16:creationId xmlns:a16="http://schemas.microsoft.com/office/drawing/2014/main" id="{51CB7B57-4AAA-441D-7354-5B636FBA5A20}"/>
              </a:ext>
            </a:extLst>
          </p:cNvPr>
          <p:cNvPicPr>
            <a:picLocks noChangeAspect="1"/>
          </p:cNvPicPr>
          <p:nvPr/>
        </p:nvPicPr>
        <p:blipFill>
          <a:blip r:embed="rId3"/>
          <a:stretch>
            <a:fillRect/>
          </a:stretch>
        </p:blipFill>
        <p:spPr bwMode="auto">
          <a:xfrm>
            <a:off x="5848765" y="3603531"/>
            <a:ext cx="5667375" cy="1343025"/>
          </a:xfrm>
          <a:prstGeom prst="rect">
            <a:avLst/>
          </a:prstGeom>
        </p:spPr>
      </p:pic>
      <p:pic>
        <p:nvPicPr>
          <p:cNvPr id="7" name="Image3">
            <a:extLst>
              <a:ext uri="{FF2B5EF4-FFF2-40B4-BE49-F238E27FC236}">
                <a16:creationId xmlns:a16="http://schemas.microsoft.com/office/drawing/2014/main" id="{1B2B3CB0-A67B-AE4A-04D7-8294949244C8}"/>
              </a:ext>
            </a:extLst>
          </p:cNvPr>
          <p:cNvPicPr>
            <a:picLocks noChangeAspect="1"/>
          </p:cNvPicPr>
          <p:nvPr/>
        </p:nvPicPr>
        <p:blipFill>
          <a:blip r:embed="rId4"/>
          <a:stretch>
            <a:fillRect/>
          </a:stretch>
        </p:blipFill>
        <p:spPr bwMode="auto">
          <a:xfrm>
            <a:off x="1280491" y="2101477"/>
            <a:ext cx="4114800" cy="2362200"/>
          </a:xfrm>
          <a:prstGeom prst="rect">
            <a:avLst/>
          </a:prstGeom>
        </p:spPr>
      </p:pic>
      <p:sp>
        <p:nvSpPr>
          <p:cNvPr id="9" name="TextBox 8">
            <a:extLst>
              <a:ext uri="{FF2B5EF4-FFF2-40B4-BE49-F238E27FC236}">
                <a16:creationId xmlns:a16="http://schemas.microsoft.com/office/drawing/2014/main" id="{8D0F2066-3FBA-7207-62E3-BB44AB0DD2A1}"/>
              </a:ext>
            </a:extLst>
          </p:cNvPr>
          <p:cNvSpPr txBox="1"/>
          <p:nvPr/>
        </p:nvSpPr>
        <p:spPr>
          <a:xfrm>
            <a:off x="1280491" y="5199866"/>
            <a:ext cx="9631017" cy="830997"/>
          </a:xfrm>
          <a:prstGeom prst="rect">
            <a:avLst/>
          </a:prstGeom>
          <a:noFill/>
        </p:spPr>
        <p:txBody>
          <a:bodyPr wrap="square">
            <a:spAutoFit/>
          </a:bodyPr>
          <a:lstStyle/>
          <a:p>
            <a:r>
              <a:rPr lang="vi-VN" sz="2400" kern="100" dirty="0">
                <a:latin typeface="Times New Roman" panose="02020603050405020304" pitchFamily="18" charset="0"/>
                <a:ea typeface="Noto Serif CJK SC"/>
                <a:cs typeface="Times New Roman" panose="02020603050405020304" pitchFamily="18" charset="0"/>
              </a:rPr>
              <a:t>=&gt; T</a:t>
            </a:r>
            <a:r>
              <a:rPr lang="en-GB" sz="2400" kern="100" dirty="0" err="1">
                <a:effectLst/>
                <a:latin typeface="Times New Roman" panose="02020603050405020304" pitchFamily="18" charset="0"/>
                <a:ea typeface="Noto Serif CJK SC"/>
                <a:cs typeface="Times New Roman" panose="02020603050405020304" pitchFamily="18" charset="0"/>
              </a:rPr>
              <a:t>hặng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dư</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tiêu</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dùng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là</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phần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diện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tích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của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hình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nằm</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phía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trên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đường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giá</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và</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dưới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đường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cầu</a:t>
            </a:r>
            <a:r>
              <a:rPr lang="en-GB" sz="2400" kern="100" dirty="0">
                <a:effectLst/>
                <a:latin typeface="Times New Roman" panose="02020603050405020304" pitchFamily="18" charset="0"/>
                <a:ea typeface="Noto Serif CJK SC"/>
                <a:cs typeface="Times New Roman" panose="02020603050405020304" pitchFamily="18" charset="0"/>
              </a:rPr>
              <a:t>. Trong </a:t>
            </a:r>
            <a:r>
              <a:rPr lang="en-GB" sz="2400" kern="100" dirty="0" err="1">
                <a:effectLst/>
                <a:latin typeface="Times New Roman" panose="02020603050405020304" pitchFamily="18" charset="0"/>
                <a:ea typeface="Noto Serif CJK SC"/>
                <a:cs typeface="Times New Roman" panose="02020603050405020304" pitchFamily="18" charset="0"/>
              </a:rPr>
              <a:t>hình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trên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đó</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chính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là</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diện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tích</a:t>
            </a:r>
            <a:r>
              <a:rPr lang="en-GB" sz="2400" kern="100" dirty="0">
                <a:effectLst/>
                <a:latin typeface="Times New Roman" panose="02020603050405020304" pitchFamily="18" charset="0"/>
                <a:ea typeface="Noto Serif CJK SC"/>
                <a:cs typeface="Times New Roman" panose="02020603050405020304" pitchFamily="18" charset="0"/>
              </a:rPr>
              <a:t> tam </a:t>
            </a:r>
            <a:r>
              <a:rPr lang="en-GB" sz="2400" kern="100" dirty="0" err="1">
                <a:effectLst/>
                <a:latin typeface="Times New Roman" panose="02020603050405020304" pitchFamily="18" charset="0"/>
                <a:ea typeface="Noto Serif CJK SC"/>
                <a:cs typeface="Times New Roman" panose="02020603050405020304" pitchFamily="18" charset="0"/>
              </a:rPr>
              <a:t>giác</a:t>
            </a:r>
            <a:r>
              <a:rPr lang="en-GB" sz="2400" kern="100" dirty="0">
                <a:effectLst/>
                <a:latin typeface="Times New Roman" panose="02020603050405020304" pitchFamily="18" charset="0"/>
                <a:ea typeface="Noto Serif CJK SC"/>
                <a:cs typeface="Times New Roman" panose="02020603050405020304" pitchFamily="18" charset="0"/>
              </a:rPr>
              <a:t> AP0E.</a:t>
            </a:r>
            <a:endParaRPr lang="en-US" sz="2400" kern="100" dirty="0">
              <a:effectLst/>
              <a:latin typeface="Times New Roman" panose="02020603050405020304" pitchFamily="18" charset="0"/>
              <a:ea typeface="Noto Serif CJK SC"/>
              <a:cs typeface="Times New Roman" panose="02020603050405020304" pitchFamily="18" charset="0"/>
            </a:endParaRPr>
          </a:p>
        </p:txBody>
      </p:sp>
    </p:spTree>
    <p:extLst>
      <p:ext uri="{BB962C8B-B14F-4D97-AF65-F5344CB8AC3E}">
        <p14:creationId xmlns:p14="http://schemas.microsoft.com/office/powerpoint/2010/main" val="1399283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00AA5-7534-39DE-C1BF-E69746C49F79}"/>
              </a:ext>
            </a:extLst>
          </p:cNvPr>
          <p:cNvSpPr>
            <a:spLocks noGrp="1"/>
          </p:cNvSpPr>
          <p:nvPr>
            <p:ph type="title"/>
          </p:nvPr>
        </p:nvSpPr>
        <p:spPr>
          <a:xfrm>
            <a:off x="414130" y="0"/>
            <a:ext cx="10515600" cy="954157"/>
          </a:xfrm>
        </p:spPr>
        <p:txBody>
          <a:bodyPr>
            <a:normAutofit/>
          </a:bodyPr>
          <a:lstStyle/>
          <a:p>
            <a:r>
              <a:rPr lang="vi-VN" sz="3200" dirty="0"/>
              <a:t>4. Ưu điểm của việc có thặng dư tiêu dùng và ứng dụng.</a:t>
            </a:r>
            <a:endParaRPr lang="en-US" sz="3200" dirty="0"/>
          </a:p>
        </p:txBody>
      </p:sp>
      <p:sp>
        <p:nvSpPr>
          <p:cNvPr id="3" name="Content Placeholder 2">
            <a:extLst>
              <a:ext uri="{FF2B5EF4-FFF2-40B4-BE49-F238E27FC236}">
                <a16:creationId xmlns:a16="http://schemas.microsoft.com/office/drawing/2014/main" id="{DA86037D-E551-C0EC-86C4-69C2C4F1B3F6}"/>
              </a:ext>
            </a:extLst>
          </p:cNvPr>
          <p:cNvSpPr>
            <a:spLocks noGrp="1"/>
          </p:cNvSpPr>
          <p:nvPr>
            <p:ph idx="1"/>
          </p:nvPr>
        </p:nvSpPr>
        <p:spPr>
          <a:xfrm>
            <a:off x="781878" y="1325563"/>
            <a:ext cx="10995992" cy="2504315"/>
          </a:xfrm>
        </p:spPr>
        <p:txBody>
          <a:bodyPr>
            <a:normAutofit fontScale="62500" lnSpcReduction="20000"/>
          </a:bodyPr>
          <a:lstStyle/>
          <a:p>
            <a:pPr marL="0" indent="0">
              <a:lnSpc>
                <a:spcPct val="115000"/>
              </a:lnSpc>
              <a:spcAft>
                <a:spcPts val="700"/>
              </a:spcAft>
              <a:buNone/>
            </a:pPr>
            <a:r>
              <a:rPr lang="vi-VN" sz="3800" kern="100" dirty="0">
                <a:effectLst/>
                <a:latin typeface="+mj-lt"/>
                <a:ea typeface="Noto Serif CJK SC"/>
                <a:cs typeface="Lohit Devanagari"/>
              </a:rPr>
              <a:t>Ưu điểm:</a:t>
            </a:r>
          </a:p>
          <a:p>
            <a:pPr>
              <a:lnSpc>
                <a:spcPct val="115000"/>
              </a:lnSpc>
              <a:spcAft>
                <a:spcPts val="700"/>
              </a:spcAft>
            </a:pPr>
            <a:r>
              <a:rPr lang="en-GB" sz="3800" kern="100" dirty="0" err="1">
                <a:effectLst/>
                <a:latin typeface="Times New Roman" panose="02020603050405020304" pitchFamily="18" charset="0"/>
                <a:ea typeface="Noto Serif CJK SC"/>
                <a:cs typeface="Times New Roman" panose="02020603050405020304" pitchFamily="18" charset="0"/>
              </a:rPr>
              <a:t>Tăng</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cường</a:t>
            </a:r>
            <a:r>
              <a:rPr lang="en-GB" sz="3800" kern="100" dirty="0">
                <a:effectLst/>
                <a:latin typeface="Times New Roman" panose="02020603050405020304" pitchFamily="18" charset="0"/>
                <a:ea typeface="Noto Serif CJK SC"/>
                <a:cs typeface="Times New Roman" panose="02020603050405020304" pitchFamily="18" charset="0"/>
              </a:rPr>
              <a:t> an </a:t>
            </a:r>
            <a:r>
              <a:rPr lang="en-GB" sz="3800" kern="100" dirty="0" err="1">
                <a:effectLst/>
                <a:latin typeface="Times New Roman" panose="02020603050405020304" pitchFamily="18" charset="0"/>
                <a:ea typeface="Noto Serif CJK SC"/>
                <a:cs typeface="Times New Roman" panose="02020603050405020304" pitchFamily="18" charset="0"/>
              </a:rPr>
              <a:t>ninh</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tài</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chính</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Dư</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thặng</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tiêu</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dùng</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cung</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cấp</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một</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dự</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trữ</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tài</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chính</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cho</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các</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tình</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huống</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khẩn</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cấp</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hoặc</a:t>
            </a:r>
            <a:r>
              <a:rPr lang="en-GB" sz="3800" kern="100" dirty="0">
                <a:effectLst/>
                <a:latin typeface="Times New Roman" panose="02020603050405020304" pitchFamily="18" charset="0"/>
                <a:ea typeface="Noto Serif CJK SC"/>
                <a:cs typeface="Times New Roman" panose="02020603050405020304" pitchFamily="18" charset="0"/>
              </a:rPr>
              <a:t> chi </a:t>
            </a:r>
            <a:r>
              <a:rPr lang="en-GB" sz="3800" kern="100" dirty="0" err="1">
                <a:effectLst/>
                <a:latin typeface="Times New Roman" panose="02020603050405020304" pitchFamily="18" charset="0"/>
                <a:ea typeface="Noto Serif CJK SC"/>
                <a:cs typeface="Times New Roman" panose="02020603050405020304" pitchFamily="18" charset="0"/>
              </a:rPr>
              <a:t>phí</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không</a:t>
            </a:r>
            <a:r>
              <a:rPr lang="en-GB" sz="3800" kern="100" dirty="0">
                <a:effectLst/>
                <a:latin typeface="Times New Roman" panose="02020603050405020304" pitchFamily="18" charset="0"/>
                <a:ea typeface="Noto Serif CJK SC"/>
                <a:cs typeface="Times New Roman" panose="02020603050405020304" pitchFamily="18" charset="0"/>
              </a:rPr>
              <a:t> mong </a:t>
            </a:r>
            <a:r>
              <a:rPr lang="en-GB" sz="3800" kern="100" dirty="0" err="1">
                <a:effectLst/>
                <a:latin typeface="Times New Roman" panose="02020603050405020304" pitchFamily="18" charset="0"/>
                <a:ea typeface="Noto Serif CJK SC"/>
                <a:cs typeface="Times New Roman" panose="02020603050405020304" pitchFamily="18" charset="0"/>
              </a:rPr>
              <a:t>đợi</a:t>
            </a:r>
            <a:r>
              <a:rPr lang="en-GB" sz="3800" kern="100" dirty="0">
                <a:effectLst/>
                <a:latin typeface="Times New Roman" panose="02020603050405020304" pitchFamily="18" charset="0"/>
                <a:ea typeface="Noto Serif CJK SC"/>
                <a:cs typeface="Times New Roman" panose="02020603050405020304" pitchFamily="18" charset="0"/>
              </a:rPr>
              <a:t>.</a:t>
            </a:r>
            <a:endParaRPr lang="en-US" sz="3800" kern="100" dirty="0">
              <a:effectLst/>
              <a:latin typeface="Times New Roman" panose="02020603050405020304" pitchFamily="18" charset="0"/>
              <a:ea typeface="Noto Serif CJK SC"/>
              <a:cs typeface="Times New Roman" panose="02020603050405020304" pitchFamily="18" charset="0"/>
            </a:endParaRPr>
          </a:p>
          <a:p>
            <a:pPr>
              <a:lnSpc>
                <a:spcPct val="115000"/>
              </a:lnSpc>
              <a:spcAft>
                <a:spcPts val="700"/>
              </a:spcAft>
            </a:pPr>
            <a:r>
              <a:rPr lang="en-GB" sz="3800" kern="100" dirty="0" err="1">
                <a:effectLst/>
                <a:latin typeface="Times New Roman" panose="02020603050405020304" pitchFamily="18" charset="0"/>
                <a:ea typeface="Noto Serif CJK SC"/>
                <a:cs typeface="Times New Roman" panose="02020603050405020304" pitchFamily="18" charset="0"/>
              </a:rPr>
              <a:t>Tạo</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điều</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kiện</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cho</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sự</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phát</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triển</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cá</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nhân</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Dư</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thặng</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tiêu</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dùng</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cung</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cấp</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cơ</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hội</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cho</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việc</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phát</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triển</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cá</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nhân</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thông</a:t>
            </a:r>
            <a:r>
              <a:rPr lang="en-GB" sz="3800" kern="100" dirty="0">
                <a:effectLst/>
                <a:latin typeface="Times New Roman" panose="02020603050405020304" pitchFamily="18" charset="0"/>
                <a:ea typeface="Noto Serif CJK SC"/>
                <a:cs typeface="Times New Roman" panose="02020603050405020304" pitchFamily="18" charset="0"/>
              </a:rPr>
              <a:t> qua </a:t>
            </a:r>
            <a:r>
              <a:rPr lang="en-GB" sz="3800" kern="100" dirty="0" err="1">
                <a:effectLst/>
                <a:latin typeface="Times New Roman" panose="02020603050405020304" pitchFamily="18" charset="0"/>
                <a:ea typeface="Noto Serif CJK SC"/>
                <a:cs typeface="Times New Roman" panose="02020603050405020304" pitchFamily="18" charset="0"/>
              </a:rPr>
              <a:t>việc</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đầu</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tư</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vào</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bản</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thân</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hoặc</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giáo</a:t>
            </a:r>
            <a:r>
              <a:rPr lang="en-GB" sz="3800" kern="100" dirty="0">
                <a:effectLst/>
                <a:latin typeface="Times New Roman" panose="02020603050405020304" pitchFamily="18" charset="0"/>
                <a:ea typeface="Noto Serif CJK SC"/>
                <a:cs typeface="Times New Roman" panose="02020603050405020304" pitchFamily="18" charset="0"/>
              </a:rPr>
              <a:t> </a:t>
            </a:r>
            <a:r>
              <a:rPr lang="en-GB" sz="3800" kern="100" dirty="0" err="1">
                <a:effectLst/>
                <a:latin typeface="Times New Roman" panose="02020603050405020304" pitchFamily="18" charset="0"/>
                <a:ea typeface="Noto Serif CJK SC"/>
                <a:cs typeface="Times New Roman" panose="02020603050405020304" pitchFamily="18" charset="0"/>
              </a:rPr>
              <a:t>dục</a:t>
            </a:r>
            <a:r>
              <a:rPr lang="en-GB" sz="3800" kern="100" dirty="0">
                <a:effectLst/>
                <a:latin typeface="Times New Roman" panose="02020603050405020304" pitchFamily="18" charset="0"/>
                <a:ea typeface="Noto Serif CJK SC"/>
                <a:cs typeface="Times New Roman" panose="02020603050405020304" pitchFamily="18" charset="0"/>
              </a:rPr>
              <a:t>.</a:t>
            </a:r>
            <a:endParaRPr lang="vi-VN" sz="3800" kern="100" dirty="0">
              <a:effectLst/>
              <a:latin typeface="Times New Roman" panose="02020603050405020304" pitchFamily="18" charset="0"/>
              <a:ea typeface="Noto Serif CJK SC"/>
              <a:cs typeface="Times New Roman" panose="02020603050405020304" pitchFamily="18" charset="0"/>
            </a:endParaRPr>
          </a:p>
          <a:p>
            <a:pPr>
              <a:lnSpc>
                <a:spcPct val="115000"/>
              </a:lnSpc>
              <a:spcAft>
                <a:spcPts val="700"/>
              </a:spcAft>
            </a:pPr>
            <a:endParaRPr lang="en-US" sz="1800" kern="100" dirty="0">
              <a:effectLst/>
              <a:latin typeface="Liberation Serif"/>
              <a:ea typeface="Noto Serif CJK SC"/>
              <a:cs typeface="Lohit Devanagari"/>
            </a:endParaRPr>
          </a:p>
          <a:p>
            <a:pPr marL="0" indent="0">
              <a:buNone/>
            </a:pPr>
            <a:endParaRPr lang="en-US" dirty="0"/>
          </a:p>
        </p:txBody>
      </p:sp>
      <p:sp>
        <p:nvSpPr>
          <p:cNvPr id="5" name="TextBox 4">
            <a:extLst>
              <a:ext uri="{FF2B5EF4-FFF2-40B4-BE49-F238E27FC236}">
                <a16:creationId xmlns:a16="http://schemas.microsoft.com/office/drawing/2014/main" id="{95B8FF66-0634-0FFA-82EC-56C8538C5268}"/>
              </a:ext>
            </a:extLst>
          </p:cNvPr>
          <p:cNvSpPr txBox="1"/>
          <p:nvPr/>
        </p:nvSpPr>
        <p:spPr>
          <a:xfrm>
            <a:off x="874642" y="3778111"/>
            <a:ext cx="10995991" cy="1938992"/>
          </a:xfrm>
          <a:prstGeom prst="rect">
            <a:avLst/>
          </a:prstGeom>
          <a:noFill/>
        </p:spPr>
        <p:txBody>
          <a:bodyPr wrap="square">
            <a:spAutoFit/>
          </a:bodyPr>
          <a:lstStyle/>
          <a:p>
            <a:r>
              <a:rPr lang="vi-VN" sz="2400" dirty="0">
                <a:latin typeface="Times New Roman" panose="02020603050405020304" pitchFamily="18" charset="0"/>
                <a:cs typeface="Times New Roman" panose="02020603050405020304" pitchFamily="18" charset="0"/>
              </a:rPr>
              <a:t>Ứng dụng:</a:t>
            </a:r>
          </a:p>
          <a:p>
            <a:r>
              <a:rPr lang="vi-VN" sz="2400" dirty="0">
                <a:latin typeface="Times New Roman" panose="02020603050405020304" pitchFamily="18" charset="0"/>
                <a:cs typeface="Times New Roman" panose="02020603050405020304" pitchFamily="18" charset="0"/>
              </a:rPr>
              <a:t>Lập kế hoạch tài chính hàng tháng: Xác định và quản lý thu nhập, chi phí cố định và cần thiết để có được dư thặng tiêu dùng.</a:t>
            </a:r>
          </a:p>
          <a:p>
            <a:r>
              <a:rPr lang="vi-VN" sz="2400" dirty="0">
                <a:latin typeface="Times New Roman" panose="02020603050405020304" pitchFamily="18" charset="0"/>
                <a:cs typeface="Times New Roman" panose="02020603050405020304" pitchFamily="18" charset="0"/>
              </a:rPr>
              <a:t>Đặt mục tiêu tiết kiệm và đầu tư: Sử dụng dư thặng tiêu dùng để tiết kiệm hoặc đầu tư vào các mục tiêu dài hạn.</a:t>
            </a:r>
          </a:p>
        </p:txBody>
      </p:sp>
    </p:spTree>
    <p:extLst>
      <p:ext uri="{BB962C8B-B14F-4D97-AF65-F5344CB8AC3E}">
        <p14:creationId xmlns:p14="http://schemas.microsoft.com/office/powerpoint/2010/main" val="392061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ED2E6-DF46-BBCD-5D3A-6C46E5C245B4}"/>
              </a:ext>
            </a:extLst>
          </p:cNvPr>
          <p:cNvSpPr>
            <a:spLocks noGrp="1"/>
          </p:cNvSpPr>
          <p:nvPr>
            <p:ph type="title"/>
          </p:nvPr>
        </p:nvSpPr>
        <p:spPr/>
        <p:txBody>
          <a:bodyPr>
            <a:normAutofit/>
          </a:bodyPr>
          <a:lstStyle/>
          <a:p>
            <a:r>
              <a:rPr lang="vi-VN" sz="3200" dirty="0"/>
              <a:t>II. Hạn chế của lý thuyết lợi ích.</a:t>
            </a:r>
            <a:endParaRPr lang="en-US" sz="3200" dirty="0"/>
          </a:p>
        </p:txBody>
      </p:sp>
      <p:sp>
        <p:nvSpPr>
          <p:cNvPr id="3" name="Content Placeholder 2">
            <a:extLst>
              <a:ext uri="{FF2B5EF4-FFF2-40B4-BE49-F238E27FC236}">
                <a16:creationId xmlns:a16="http://schemas.microsoft.com/office/drawing/2014/main" id="{171975DC-43B5-0E45-2A85-77DA3FA3CC3D}"/>
              </a:ext>
            </a:extLst>
          </p:cNvPr>
          <p:cNvSpPr>
            <a:spLocks noGrp="1"/>
          </p:cNvSpPr>
          <p:nvPr>
            <p:ph idx="1"/>
          </p:nvPr>
        </p:nvSpPr>
        <p:spPr/>
        <p:txBody>
          <a:bodyPr/>
          <a:lstStyle/>
          <a:p>
            <a:pPr marL="514350" indent="-514350">
              <a:buAutoNum type="arabicPeriod"/>
            </a:pPr>
            <a:r>
              <a:rPr lang="vi-VN" dirty="0">
                <a:latin typeface="Times New Roman" panose="02020603050405020304" pitchFamily="18" charset="0"/>
                <a:cs typeface="Times New Roman" panose="02020603050405020304" pitchFamily="18" charset="0"/>
              </a:rPr>
              <a:t>Khái niệm</a:t>
            </a:r>
          </a:p>
          <a:p>
            <a:pPr marL="514350" indent="-514350">
              <a:buAutoNum type="arabicPeriod"/>
            </a:pPr>
            <a:endParaRPr lang="vi-VN" dirty="0"/>
          </a:p>
          <a:p>
            <a:r>
              <a:rPr lang="vi-VN" sz="2400" dirty="0">
                <a:latin typeface="Times New Roman" panose="02020603050405020304" pitchFamily="18" charset="0"/>
                <a:cs typeface="Times New Roman" panose="02020603050405020304" pitchFamily="18" charset="0"/>
              </a:rPr>
              <a:t> </a:t>
            </a:r>
            <a:r>
              <a:rPr lang="en-GB" sz="2400" kern="100" dirty="0">
                <a:effectLst/>
                <a:latin typeface="Times New Roman" panose="02020603050405020304" pitchFamily="18" charset="0"/>
                <a:ea typeface="Noto Serif CJK SC"/>
                <a:cs typeface="Times New Roman" panose="02020603050405020304" pitchFamily="18" charset="0"/>
              </a:rPr>
              <a:t>Lý </a:t>
            </a:r>
            <a:r>
              <a:rPr lang="en-GB" sz="2400" kern="100" dirty="0" err="1">
                <a:effectLst/>
                <a:latin typeface="Times New Roman" panose="02020603050405020304" pitchFamily="18" charset="0"/>
                <a:ea typeface="Noto Serif CJK SC"/>
                <a:cs typeface="Times New Roman" panose="02020603050405020304" pitchFamily="18" charset="0"/>
              </a:rPr>
              <a:t>thuyết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Lợi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ích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là</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một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phương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pháp</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phân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tích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trong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kinh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tế</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học</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và</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quản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lý</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giả</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định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rằng</a:t>
            </a:r>
            <a:r>
              <a:rPr lang="en-GB" sz="2400" kern="100" dirty="0">
                <a:effectLst/>
                <a:latin typeface="Times New Roman" panose="02020603050405020304" pitchFamily="18" charset="0"/>
                <a:ea typeface="Noto Serif CJK SC"/>
                <a:cs typeface="Times New Roman" panose="02020603050405020304" pitchFamily="18" charset="0"/>
              </a:rPr>
              <a:t> con </a:t>
            </a:r>
            <a:r>
              <a:rPr lang="en-GB" sz="2400" kern="100" dirty="0" err="1">
                <a:effectLst/>
                <a:latin typeface="Times New Roman" panose="02020603050405020304" pitchFamily="18" charset="0"/>
                <a:ea typeface="Noto Serif CJK SC"/>
                <a:cs typeface="Times New Roman" panose="02020603050405020304" pitchFamily="18" charset="0"/>
              </a:rPr>
              <a:t>người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hành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động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để</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tối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hóa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lợi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ích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của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họ</a:t>
            </a:r>
            <a:r>
              <a:rPr lang="en-GB" sz="2400" kern="100" dirty="0">
                <a:effectLst/>
                <a:latin typeface="Times New Roman" panose="02020603050405020304" pitchFamily="18" charset="0"/>
                <a:ea typeface="Noto Serif CJK SC"/>
                <a:cs typeface="Times New Roman" panose="02020603050405020304" pitchFamily="18" charset="0"/>
              </a:rPr>
              <a:t>. </a:t>
            </a:r>
            <a:endParaRPr lang="en-US" sz="2400" kern="100" dirty="0">
              <a:effectLst/>
              <a:latin typeface="Times New Roman" panose="02020603050405020304" pitchFamily="18" charset="0"/>
              <a:ea typeface="Noto Serif CJK SC"/>
              <a:cs typeface="Times New Roman" panose="02020603050405020304" pitchFamily="18" charset="0"/>
            </a:endParaRPr>
          </a:p>
          <a:p>
            <a:r>
              <a:rPr lang="en-GB" sz="2400" kern="100" dirty="0" err="1">
                <a:effectLst/>
                <a:latin typeface="Times New Roman" panose="02020603050405020304" pitchFamily="18" charset="0"/>
                <a:ea typeface="Noto Serif CJK SC"/>
                <a:cs typeface="Times New Roman" panose="02020603050405020304" pitchFamily="18" charset="0"/>
              </a:rPr>
              <a:t>Tuy</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nhiên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như</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mọi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lý</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thuyết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lý</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thuyết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Lợi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ích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cũng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có</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những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hạn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chế</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cần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được</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xem</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xét</a:t>
            </a:r>
            <a:r>
              <a:rPr lang="en-GB" sz="2400" kern="100" dirty="0">
                <a:effectLst/>
                <a:latin typeface="Times New Roman" panose="02020603050405020304" pitchFamily="18" charset="0"/>
                <a:ea typeface="Noto Serif CJK SC"/>
                <a:cs typeface="Times New Roman" panose="02020603050405020304" pitchFamily="18" charset="0"/>
              </a:rPr>
              <a:t>.</a:t>
            </a:r>
            <a:endParaRPr lang="en-US" sz="2400" kern="100" dirty="0">
              <a:effectLst/>
              <a:latin typeface="Times New Roman" panose="02020603050405020304" pitchFamily="18" charset="0"/>
              <a:ea typeface="Noto Serif CJK SC"/>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07852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3DC9F-0CE3-0597-4F3F-83697F699311}"/>
              </a:ext>
            </a:extLst>
          </p:cNvPr>
          <p:cNvSpPr>
            <a:spLocks noGrp="1"/>
          </p:cNvSpPr>
          <p:nvPr>
            <p:ph type="title"/>
          </p:nvPr>
        </p:nvSpPr>
        <p:spPr/>
        <p:txBody>
          <a:bodyPr>
            <a:normAutofit/>
          </a:bodyPr>
          <a:lstStyle/>
          <a:p>
            <a:r>
              <a:rPr lang="vi-VN" sz="3200" dirty="0"/>
              <a:t>2. Những hạn chế</a:t>
            </a:r>
            <a:endParaRPr lang="en-US" sz="3200" dirty="0"/>
          </a:p>
        </p:txBody>
      </p:sp>
      <p:sp>
        <p:nvSpPr>
          <p:cNvPr id="3" name="Content Placeholder 2">
            <a:extLst>
              <a:ext uri="{FF2B5EF4-FFF2-40B4-BE49-F238E27FC236}">
                <a16:creationId xmlns:a16="http://schemas.microsoft.com/office/drawing/2014/main" id="{BCE361DF-AEDB-44B4-190B-20A11AADCF4D}"/>
              </a:ext>
            </a:extLst>
          </p:cNvPr>
          <p:cNvSpPr>
            <a:spLocks noGrp="1"/>
          </p:cNvSpPr>
          <p:nvPr>
            <p:ph idx="1"/>
          </p:nvPr>
        </p:nvSpPr>
        <p:spPr/>
        <p:txBody>
          <a:bodyPr>
            <a:noAutofit/>
          </a:bodyPr>
          <a:lstStyle/>
          <a:p>
            <a:r>
              <a:rPr lang="en-GB" sz="2200" kern="100" dirty="0" err="1">
                <a:effectLst/>
                <a:latin typeface="Times New Roman" panose="02020603050405020304" pitchFamily="18" charset="0"/>
                <a:ea typeface="Noto Serif CJK SC"/>
                <a:cs typeface="Times New Roman" panose="02020603050405020304" pitchFamily="18" charset="0"/>
              </a:rPr>
              <a:t>Lợi</a:t>
            </a:r>
            <a:r>
              <a:rPr lang="en-GB" sz="2200" kern="100" dirty="0">
                <a:effectLst/>
                <a:latin typeface="Times New Roman" panose="02020603050405020304" pitchFamily="18" charset="0"/>
                <a:ea typeface="Noto Serif CJK SC"/>
                <a:cs typeface="Times New Roman" panose="02020603050405020304" pitchFamily="18" charset="0"/>
              </a:rPr>
              <a:t> </a:t>
            </a:r>
            <a:r>
              <a:rPr lang="en-GB" sz="2200" kern="100" dirty="0" err="1">
                <a:effectLst/>
                <a:latin typeface="Times New Roman" panose="02020603050405020304" pitchFamily="18" charset="0"/>
                <a:ea typeface="Noto Serif CJK SC"/>
                <a:cs typeface="Times New Roman" panose="02020603050405020304" pitchFamily="18" charset="0"/>
              </a:rPr>
              <a:t>ích</a:t>
            </a:r>
            <a:r>
              <a:rPr lang="en-GB" sz="2200" kern="100" dirty="0">
                <a:effectLst/>
                <a:latin typeface="Times New Roman" panose="02020603050405020304" pitchFamily="18" charset="0"/>
                <a:ea typeface="Noto Serif CJK SC"/>
                <a:cs typeface="Times New Roman" panose="02020603050405020304" pitchFamily="18" charset="0"/>
              </a:rPr>
              <a:t> </a:t>
            </a:r>
            <a:r>
              <a:rPr lang="en-GB" sz="2200" kern="100" dirty="0" err="1">
                <a:effectLst/>
                <a:latin typeface="Times New Roman" panose="02020603050405020304" pitchFamily="18" charset="0"/>
                <a:ea typeface="Noto Serif CJK SC"/>
                <a:cs typeface="Times New Roman" panose="02020603050405020304" pitchFamily="18" charset="0"/>
              </a:rPr>
              <a:t>là</a:t>
            </a:r>
            <a:r>
              <a:rPr lang="en-GB" sz="2200" kern="100" dirty="0">
                <a:effectLst/>
                <a:latin typeface="Times New Roman" panose="02020603050405020304" pitchFamily="18" charset="0"/>
                <a:ea typeface="Noto Serif CJK SC"/>
                <a:cs typeface="Times New Roman" panose="02020603050405020304" pitchFamily="18" charset="0"/>
              </a:rPr>
              <a:t> </a:t>
            </a:r>
            <a:r>
              <a:rPr lang="en-GB" sz="2200" kern="100" dirty="0" err="1">
                <a:effectLst/>
                <a:latin typeface="Times New Roman" panose="02020603050405020304" pitchFamily="18" charset="0"/>
                <a:ea typeface="Noto Serif CJK SC"/>
                <a:cs typeface="Times New Roman" panose="02020603050405020304" pitchFamily="18" charset="0"/>
              </a:rPr>
              <a:t>khái</a:t>
            </a:r>
            <a:r>
              <a:rPr lang="en-GB" sz="2200" kern="100" dirty="0">
                <a:effectLst/>
                <a:latin typeface="Times New Roman" panose="02020603050405020304" pitchFamily="18" charset="0"/>
                <a:ea typeface="Noto Serif CJK SC"/>
                <a:cs typeface="Times New Roman" panose="02020603050405020304" pitchFamily="18" charset="0"/>
              </a:rPr>
              <a:t> </a:t>
            </a:r>
            <a:r>
              <a:rPr lang="en-GB" sz="2200" kern="100" dirty="0" err="1">
                <a:effectLst/>
                <a:latin typeface="Times New Roman" panose="02020603050405020304" pitchFamily="18" charset="0"/>
                <a:ea typeface="Noto Serif CJK SC"/>
                <a:cs typeface="Times New Roman" panose="02020603050405020304" pitchFamily="18" charset="0"/>
              </a:rPr>
              <a:t>niệm</a:t>
            </a:r>
            <a:r>
              <a:rPr lang="en-GB" sz="2200" kern="100" dirty="0">
                <a:effectLst/>
                <a:latin typeface="Times New Roman" panose="02020603050405020304" pitchFamily="18" charset="0"/>
                <a:ea typeface="Noto Serif CJK SC"/>
                <a:cs typeface="Times New Roman" panose="02020603050405020304" pitchFamily="18" charset="0"/>
              </a:rPr>
              <a:t> </a:t>
            </a:r>
            <a:r>
              <a:rPr lang="en-GB" sz="2200" kern="100" dirty="0" err="1">
                <a:effectLst/>
                <a:latin typeface="Times New Roman" panose="02020603050405020304" pitchFamily="18" charset="0"/>
                <a:ea typeface="Noto Serif CJK SC"/>
                <a:cs typeface="Times New Roman" panose="02020603050405020304" pitchFamily="18" charset="0"/>
              </a:rPr>
              <a:t>chủ</a:t>
            </a:r>
            <a:r>
              <a:rPr lang="en-GB" sz="2200" kern="100" dirty="0">
                <a:effectLst/>
                <a:latin typeface="Times New Roman" panose="02020603050405020304" pitchFamily="18" charset="0"/>
                <a:ea typeface="Noto Serif CJK SC"/>
                <a:cs typeface="Times New Roman" panose="02020603050405020304" pitchFamily="18" charset="0"/>
              </a:rPr>
              <a:t> </a:t>
            </a:r>
            <a:r>
              <a:rPr lang="en-GB" sz="2200" kern="100" dirty="0" err="1">
                <a:effectLst/>
                <a:latin typeface="Times New Roman" panose="02020603050405020304" pitchFamily="18" charset="0"/>
                <a:ea typeface="Noto Serif CJK SC"/>
                <a:cs typeface="Times New Roman" panose="02020603050405020304" pitchFamily="18" charset="0"/>
              </a:rPr>
              <a:t>quan</a:t>
            </a:r>
            <a:r>
              <a:rPr lang="en-GB" sz="2200" kern="100" dirty="0">
                <a:effectLst/>
                <a:latin typeface="Times New Roman" panose="02020603050405020304" pitchFamily="18" charset="0"/>
                <a:ea typeface="Noto Serif CJK SC"/>
                <a:cs typeface="Times New Roman" panose="02020603050405020304" pitchFamily="18" charset="0"/>
              </a:rPr>
              <a:t>:</a:t>
            </a:r>
            <a:r>
              <a:rPr lang="vi-VN" sz="2200" kern="100" dirty="0">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Mỗi</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người</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có</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cái</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nhìn</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và</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đánh</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giá</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về</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lợi</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ích</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theo</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cách</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riêng</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của</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r>
              <a:rPr lang="en-GB" sz="2200" dirty="0" err="1">
                <a:solidFill>
                  <a:srgbClr val="0D0D0D"/>
                </a:solidFill>
                <a:effectLst/>
                <a:latin typeface="Times New Roman" panose="02020603050405020304" pitchFamily="18" charset="0"/>
                <a:ea typeface="Noto Serif CJK SC"/>
                <a:cs typeface="Times New Roman" panose="02020603050405020304" pitchFamily="18" charset="0"/>
              </a:rPr>
              <a:t>họ</a:t>
            </a:r>
            <a:r>
              <a:rPr lang="en-GB" sz="2200" dirty="0">
                <a:solidFill>
                  <a:srgbClr val="0D0D0D"/>
                </a:solidFill>
                <a:effectLst/>
                <a:latin typeface="Times New Roman" panose="02020603050405020304" pitchFamily="18" charset="0"/>
                <a:ea typeface="Noto Serif CJK SC"/>
                <a:cs typeface="Times New Roman" panose="02020603050405020304" pitchFamily="18" charset="0"/>
              </a:rPr>
              <a:t>. </a:t>
            </a:r>
            <a:endParaRPr lang="vi-VN" sz="2200" dirty="0">
              <a:solidFill>
                <a:srgbClr val="0D0D0D"/>
              </a:solidFill>
              <a:latin typeface="Times New Roman" panose="02020603050405020304" pitchFamily="18" charset="0"/>
              <a:ea typeface="Noto Serif CJK SC"/>
              <a:cs typeface="Times New Roman" panose="02020603050405020304" pitchFamily="18" charset="0"/>
            </a:endParaRPr>
          </a:p>
          <a:p>
            <a:r>
              <a:rPr lang="vi-VN" sz="2200" dirty="0">
                <a:solidFill>
                  <a:srgbClr val="0D0D0D"/>
                </a:solidFill>
                <a:effectLst/>
                <a:latin typeface="Times New Roman" panose="02020603050405020304" pitchFamily="18" charset="0"/>
                <a:ea typeface="Noto Serif CJK SC"/>
                <a:cs typeface="Times New Roman" panose="02020603050405020304" pitchFamily="18" charset="0"/>
              </a:rPr>
              <a:t>Giả định đo lường lợi ích bằng một hàm tiện ích là không chính xác vì trong thực tế, việc đo lường lợi ích gặp phải nhiều khó khăn và không chắc chắn.</a:t>
            </a:r>
          </a:p>
          <a:p>
            <a:r>
              <a:rPr lang="vi-VN" sz="2200" dirty="0">
                <a:solidFill>
                  <a:srgbClr val="0D0D0D"/>
                </a:solidFill>
                <a:latin typeface="Times New Roman" panose="02020603050405020304" pitchFamily="18" charset="0"/>
                <a:ea typeface="Noto Serif CJK SC"/>
                <a:cs typeface="Times New Roman" panose="02020603050405020304" pitchFamily="18" charset="0"/>
              </a:rPr>
              <a:t>Q</a:t>
            </a:r>
            <a:r>
              <a:rPr lang="vi-VN" sz="2200" dirty="0">
                <a:solidFill>
                  <a:srgbClr val="0D0D0D"/>
                </a:solidFill>
                <a:effectLst/>
                <a:latin typeface="Times New Roman" panose="02020603050405020304" pitchFamily="18" charset="0"/>
                <a:ea typeface="Noto Serif CJK SC"/>
                <a:cs typeface="Times New Roman" panose="02020603050405020304" pitchFamily="18" charset="0"/>
              </a:rPr>
              <a:t>uy luật lợi ích cận biên giảm dần là một hiện tượng tâm lý trong lĩnh vực kinh tế. Đối với một người tiêu dùng, khi họ tiêu thụ một lượng nhất định của một mặt hàng hoặc dịch vụ, mức độ hài lòng hoặc lợi ích mà họ nhận được từ mỗi đơn vị tiêu thụ tiếp theo sẽ giảm dần.</a:t>
            </a:r>
          </a:p>
          <a:p>
            <a:r>
              <a:rPr lang="vi-VN" sz="2200" dirty="0">
                <a:solidFill>
                  <a:srgbClr val="0D0D0D"/>
                </a:solidFill>
                <a:effectLst/>
                <a:latin typeface="Times New Roman" panose="02020603050405020304" pitchFamily="18" charset="0"/>
                <a:ea typeface="Noto Serif CJK SC"/>
                <a:cs typeface="Times New Roman" panose="02020603050405020304" pitchFamily="18" charset="0"/>
              </a:rPr>
              <a:t>Quy luật lợi ích giảm dần chỉ đúng trong thời gian ngắn. Trong thời gian dài, con người có khả năng thích ứng và làm quen với mức độ lợi ích từ một mặt hàng hoặc dịch vụ. Điều này có thể dẫn đến việc họ không cảm thấy giảm sút về lợi ích như mong đợi ban đầu, và thậm chí có thể cảm thấy tăng lên do việc hiểu biết sâu hơn về sản phẩm, sự thích nghi, hoặc những trải nghiệm tích lũy từ việc sử dụng.</a:t>
            </a:r>
          </a:p>
          <a:p>
            <a:endParaRPr lang="vi-VN" sz="2200" dirty="0">
              <a:solidFill>
                <a:srgbClr val="0D0D0D"/>
              </a:solidFill>
              <a:effectLst/>
              <a:latin typeface="Times New Roman" panose="02020603050405020304" pitchFamily="18" charset="0"/>
              <a:ea typeface="Noto Serif CJK SC"/>
              <a:cs typeface="Times New Roman" panose="02020603050405020304" pitchFamily="18" charset="0"/>
            </a:endParaRPr>
          </a:p>
        </p:txBody>
      </p:sp>
    </p:spTree>
    <p:extLst>
      <p:ext uri="{BB962C8B-B14F-4D97-AF65-F5344CB8AC3E}">
        <p14:creationId xmlns:p14="http://schemas.microsoft.com/office/powerpoint/2010/main" val="2594389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AAA69-AFC6-B307-0175-A7AD9AFCE614}"/>
              </a:ext>
            </a:extLst>
          </p:cNvPr>
          <p:cNvSpPr>
            <a:spLocks noGrp="1"/>
          </p:cNvSpPr>
          <p:nvPr>
            <p:ph type="title"/>
          </p:nvPr>
        </p:nvSpPr>
        <p:spPr/>
        <p:txBody>
          <a:bodyPr/>
          <a:lstStyle/>
          <a:p>
            <a:r>
              <a:rPr lang="vi-VN" dirty="0"/>
              <a:t>3. Kết luận</a:t>
            </a:r>
            <a:endParaRPr lang="en-US" dirty="0"/>
          </a:p>
        </p:txBody>
      </p:sp>
      <p:sp>
        <p:nvSpPr>
          <p:cNvPr id="3" name="Content Placeholder 2">
            <a:extLst>
              <a:ext uri="{FF2B5EF4-FFF2-40B4-BE49-F238E27FC236}">
                <a16:creationId xmlns:a16="http://schemas.microsoft.com/office/drawing/2014/main" id="{310C55A3-3B10-9F6D-FA3F-377667A1069D}"/>
              </a:ext>
            </a:extLst>
          </p:cNvPr>
          <p:cNvSpPr>
            <a:spLocks noGrp="1"/>
          </p:cNvSpPr>
          <p:nvPr>
            <p:ph idx="1"/>
          </p:nvPr>
        </p:nvSpPr>
        <p:spPr/>
        <p:txBody>
          <a:bodyPr/>
          <a:lstStyle/>
          <a:p>
            <a:r>
              <a:rPr lang="en-GB" sz="2400" kern="100" dirty="0">
                <a:effectLst/>
                <a:latin typeface="Times New Roman" panose="02020603050405020304" pitchFamily="18" charset="0"/>
                <a:ea typeface="Noto Serif CJK SC"/>
                <a:cs typeface="Times New Roman" panose="02020603050405020304" pitchFamily="18" charset="0"/>
              </a:rPr>
              <a:t>Lý </a:t>
            </a:r>
            <a:r>
              <a:rPr lang="en-GB" sz="2400" kern="100" dirty="0" err="1">
                <a:effectLst/>
                <a:latin typeface="Times New Roman" panose="02020603050405020304" pitchFamily="18" charset="0"/>
                <a:ea typeface="Noto Serif CJK SC"/>
                <a:cs typeface="Times New Roman" panose="02020603050405020304" pitchFamily="18" charset="0"/>
              </a:rPr>
              <a:t>thuyết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Lợi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ích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đóng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góp</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quan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trọng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vào</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việc</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hiểu</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hành</a:t>
            </a:r>
            <a:r>
              <a:rPr lang="en-GB" sz="2400" kern="100" dirty="0">
                <a:effectLst/>
                <a:latin typeface="Times New Roman" panose="02020603050405020304" pitchFamily="18" charset="0"/>
                <a:ea typeface="Noto Serif CJK SC"/>
                <a:cs typeface="Times New Roman" panose="02020603050405020304" pitchFamily="18" charset="0"/>
              </a:rPr>
              <a:t> vi </a:t>
            </a:r>
            <a:r>
              <a:rPr lang="en-GB" sz="2400" kern="100" dirty="0" err="1">
                <a:effectLst/>
                <a:latin typeface="Times New Roman" panose="02020603050405020304" pitchFamily="18" charset="0"/>
                <a:ea typeface="Noto Serif CJK SC"/>
                <a:cs typeface="Times New Roman" panose="02020603050405020304" pitchFamily="18" charset="0"/>
              </a:rPr>
              <a:t>tiêu</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dùng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và</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ra</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quyết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định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nhưng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cũng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gặp</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phải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những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hạn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chế</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đáng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chú</a:t>
            </a:r>
            <a:r>
              <a:rPr lang="en-GB" sz="2400" kern="100" dirty="0">
                <a:effectLst/>
                <a:latin typeface="Times New Roman" panose="02020603050405020304" pitchFamily="18" charset="0"/>
                <a:ea typeface="Noto Serif CJK SC"/>
                <a:cs typeface="Times New Roman" panose="02020603050405020304" pitchFamily="18" charset="0"/>
              </a:rPr>
              <a:t> ý.</a:t>
            </a:r>
            <a:endParaRPr lang="en-US" sz="2400" kern="100" dirty="0">
              <a:effectLst/>
              <a:latin typeface="Times New Roman" panose="02020603050405020304" pitchFamily="18" charset="0"/>
              <a:ea typeface="Noto Serif CJK SC"/>
              <a:cs typeface="Times New Roman" panose="02020603050405020304" pitchFamily="18" charset="0"/>
            </a:endParaRPr>
          </a:p>
          <a:p>
            <a:r>
              <a:rPr lang="en-GB" sz="2400" kern="100" dirty="0" err="1">
                <a:effectLst/>
                <a:latin typeface="Times New Roman" panose="02020603050405020304" pitchFamily="18" charset="0"/>
                <a:ea typeface="Noto Serif CJK SC"/>
                <a:cs typeface="Times New Roman" panose="02020603050405020304" pitchFamily="18" charset="0"/>
              </a:rPr>
              <a:t>Hiểu</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và</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nhận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biết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các</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hạn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chế</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này</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giúp</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chúng</a:t>
            </a:r>
            <a:r>
              <a:rPr lang="en-GB" sz="2400" kern="100" dirty="0">
                <a:effectLst/>
                <a:latin typeface="Times New Roman" panose="02020603050405020304" pitchFamily="18" charset="0"/>
                <a:ea typeface="Noto Serif CJK SC"/>
                <a:cs typeface="Times New Roman" panose="02020603050405020304" pitchFamily="18" charset="0"/>
              </a:rPr>
              <a:t> ta </a:t>
            </a:r>
            <a:r>
              <a:rPr lang="en-GB" sz="2400" kern="100" dirty="0" err="1">
                <a:effectLst/>
                <a:latin typeface="Times New Roman" panose="02020603050405020304" pitchFamily="18" charset="0"/>
                <a:ea typeface="Noto Serif CJK SC"/>
                <a:cs typeface="Times New Roman" panose="02020603050405020304" pitchFamily="18" charset="0"/>
              </a:rPr>
              <a:t>sử</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dụng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lý</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thuyết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Lợi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ích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một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cách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hiệu</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quả</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hơn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và</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kết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hợp</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nó</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với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các</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phương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pháp</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phân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tích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khác</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để</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có</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cái</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nhìn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toàn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diện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hơn</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về</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hành</a:t>
            </a:r>
            <a:r>
              <a:rPr lang="en-GB" sz="2400" kern="100" dirty="0">
                <a:effectLst/>
                <a:latin typeface="Times New Roman" panose="02020603050405020304" pitchFamily="18" charset="0"/>
                <a:ea typeface="Noto Serif CJK SC"/>
                <a:cs typeface="Times New Roman" panose="02020603050405020304" pitchFamily="18" charset="0"/>
              </a:rPr>
              <a:t> vi </a:t>
            </a:r>
            <a:r>
              <a:rPr lang="en-GB" sz="2400" kern="100" dirty="0" err="1">
                <a:effectLst/>
                <a:latin typeface="Times New Roman" panose="02020603050405020304" pitchFamily="18" charset="0"/>
                <a:ea typeface="Noto Serif CJK SC"/>
                <a:cs typeface="Times New Roman" panose="02020603050405020304" pitchFamily="18" charset="0"/>
              </a:rPr>
              <a:t>tiêu</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dùng</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và</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quyết</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định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kinh</a:t>
            </a:r>
            <a:r>
              <a:rPr lang="en-GB" sz="2400" kern="100" dirty="0">
                <a:effectLst/>
                <a:latin typeface="Times New Roman" panose="02020603050405020304" pitchFamily="18" charset="0"/>
                <a:ea typeface="Noto Serif CJK SC"/>
                <a:cs typeface="Times New Roman" panose="02020603050405020304" pitchFamily="18" charset="0"/>
              </a:rPr>
              <a:t> </a:t>
            </a:r>
            <a:r>
              <a:rPr lang="en-GB" sz="2400" kern="100" dirty="0" err="1">
                <a:effectLst/>
                <a:latin typeface="Times New Roman" panose="02020603050405020304" pitchFamily="18" charset="0"/>
                <a:ea typeface="Noto Serif CJK SC"/>
                <a:cs typeface="Times New Roman" panose="02020603050405020304" pitchFamily="18" charset="0"/>
              </a:rPr>
              <a:t>doanh</a:t>
            </a:r>
            <a:r>
              <a:rPr lang="en-GB" sz="2400" kern="100" dirty="0">
                <a:effectLst/>
                <a:latin typeface="Times New Roman" panose="02020603050405020304" pitchFamily="18" charset="0"/>
                <a:ea typeface="Noto Serif CJK SC"/>
                <a:cs typeface="Times New Roman" panose="02020603050405020304" pitchFamily="18" charset="0"/>
              </a:rPr>
              <a:t>.</a:t>
            </a:r>
            <a:endParaRPr lang="en-US" sz="2400" kern="100" dirty="0">
              <a:effectLst/>
              <a:latin typeface="Times New Roman" panose="02020603050405020304" pitchFamily="18" charset="0"/>
              <a:ea typeface="Noto Serif CJK SC"/>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080372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29269E9-82DB-24E0-C681-431937B8FA0E}"/>
              </a:ext>
            </a:extLst>
          </p:cNvPr>
          <p:cNvSpPr/>
          <p:nvPr/>
        </p:nvSpPr>
        <p:spPr>
          <a:xfrm>
            <a:off x="2245831" y="3166118"/>
            <a:ext cx="7931838" cy="1167343"/>
          </a:xfrm>
          <a:prstGeom prst="rect">
            <a:avLst/>
          </a:prstGeom>
          <a:noFill/>
        </p:spPr>
        <p:txBody>
          <a:bodyPr wrap="none" lIns="91440" tIns="45720" rIns="91440" bIns="45720">
            <a:prstTxWarp prst="textArchUp">
              <a:avLst/>
            </a:prstTxWarp>
            <a:spAutoFit/>
          </a:bodyPr>
          <a:lstStyle/>
          <a:p>
            <a:pPr algn="ctr"/>
            <a:r>
              <a:rPr lang="vi-VN"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Cảm ơn các bạn và cô giác đã lắng nghe</a:t>
            </a:r>
          </a:p>
          <a:p>
            <a:pPr algn="ct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108519816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TotalTime>
  <Words>903</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Liberation Serif</vt:lpstr>
      <vt:lpstr>Times New Roman</vt:lpstr>
      <vt:lpstr>Retrospect</vt:lpstr>
      <vt:lpstr>Chương 4: Lý thuyết người tiêu dùng</vt:lpstr>
      <vt:lpstr>Mục lục</vt:lpstr>
      <vt:lpstr>I. Thặng dư tiêu dùng</vt:lpstr>
      <vt:lpstr>2. Công thức tính thặng dư tiêu dùng </vt:lpstr>
      <vt:lpstr>3. Ví dụ</vt:lpstr>
      <vt:lpstr>4. Ưu điểm của việc có thặng dư tiêu dùng và ứng dụng.</vt:lpstr>
      <vt:lpstr>II. Hạn chế của lý thuyết lợi ích.</vt:lpstr>
      <vt:lpstr>2. Những hạn chế</vt:lpstr>
      <vt:lpstr>3. Kết luận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4: Lý thuyết người tiêu dùng</dc:title>
  <dc:creator>Nguyễn Thị Kiều Trang</dc:creator>
  <cp:lastModifiedBy>Nguyễn Thị Kiều Trang</cp:lastModifiedBy>
  <cp:revision>1</cp:revision>
  <dcterms:created xsi:type="dcterms:W3CDTF">2024-03-14T14:50:03Z</dcterms:created>
  <dcterms:modified xsi:type="dcterms:W3CDTF">2024-03-14T14:52:18Z</dcterms:modified>
</cp:coreProperties>
</file>