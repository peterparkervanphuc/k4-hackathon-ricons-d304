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21"/>
    <p:sldId id="271" r:id="rId22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YOLO Pro
(phát hiện lá)</c:v>
                  </c:pt>
                  <c:pt idx="1">
                    <c:v>MobileNetV2 1.0
(Healthy/Diseased)</c:v>
                  </c:pt>
                  <c:pt idx="2">
                    <c:v>MobileNetV2 0.35
(LeafMiner/EarlyBlight)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93.5</c:v>
                </c:pt>
                <c:pt idx="1">
                  <c:v>97.8</c:v>
                </c:pt>
                <c:pt idx="2">
                  <c:v>93.7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B9B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YOLO Pro
(phát hiện lá)</c:v>
                  </c:pt>
                  <c:pt idx="1">
                    <c:v>MobileNetV2 1.0
(Healthy/Diseased)</c:v>
                  </c:pt>
                  <c:pt idx="2">
                    <c:v>MobileNetV2 0.35
(LeafMiner/EarlyBlight)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91.9</c:v>
                </c:pt>
                <c:pt idx="1">
                  <c:v>97.8</c:v>
                </c:pt>
                <c:pt idx="2">
                  <c:v>93.8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5DBA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YOLO Pro
(phát hiện lá)</c:v>
                  </c:pt>
                  <c:pt idx="1">
                    <c:v>MobileNetV2 1.0
(Healthy/Diseased)</c:v>
                  </c:pt>
                  <c:pt idx="2">
                    <c:v>MobileNetV2 0.35
(LeafMiner/EarlyBlight)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92.7</c:v>
                </c:pt>
                <c:pt idx="1">
                  <c:v>97.8</c:v>
                </c:pt>
                <c:pt idx="2">
                  <c:v>93.7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2E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E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D9E5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E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QUỐC GIA HÀ NỘI · TRƯỜNG ĐẠI HỌC CÔNG NGHỆ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LUẬN TỐT NGHIỆP · NGÀNH KỸ THUẬT MÁY TÍNH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HỆ THỐNG AIoT PHÁT HIỆN VÀ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SÂU BỆNH TRÊN LÁ CÀ CHUA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mô hình học sâu triển khai trên thiết bị biên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175504" y="3886200"/>
            <a:ext cx="1828800" cy="36576"/>
          </a:xfrm>
          <a:prstGeom prst="rect">
            <a:avLst/>
          </a:prstGeom>
          <a:solidFill>
            <a:srgbClr val="6B9B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</a:t>
            </a:r>
            <a:endParaRPr lang="en-US" sz="1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Thị Kiều Trang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MSSV: 22022166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</a:t>
            </a:r>
            <a:endParaRPr lang="en-US" sz="12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Nguyễn Kiêm Hùng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Mai Linh (đồng hướng dẫn)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NỘI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thách thức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trong nông nghiệp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 chua là cây trồng giá trị kinh tế cao nhưng nhạy cảm với bệnh lá, đặc biệt là cháy lá sớm (Early Blight) và sâu vẽ bùa (Leaf Miner).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thủ công tốn thời gian, đòi hỏi kinh nghiệm, dễ bỏ sót dấu hiệu bệnh ở giai đoạn sớm.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thu nhận và phân loại tại thiết bị biên (Edge AI), giảm độ trễ, không phụ thuộc Internet liên tục.</a:t>
            </a:r>
            <a:endParaRPr lang="en-US" sz="1400" dirty="0"/>
          </a:p>
        </p:txBody>
      </p:sp>
      <p:pic>
        <p:nvPicPr>
          <p:cNvPr id="5" name="Image 0" descr="leaf_miner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097280"/>
            <a:ext cx="484632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0" y="5989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 cà chua bị sâu vẽ bùa (Leaf Miner) — ảnh thu được từ thực nghiệm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664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học sâu tại biên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pipeline phân loại bệnh lá chạy trực tiếp trên Raspberry Pi 4 với độ trễ thấp.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0920" y="1664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hóa thu nhận ảnh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cơ cấu ray trượt và lập trình ESP32 để di chuyển camera dọc luống cây.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133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dữ liệu thời gian thực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Firebase (Firestore + RTDB) và Cloudinary để lưu kết quả phát hiện bệnh an toàn.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84048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41148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60920" y="4133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giám sát từ xa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48920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ứng dụng Flutter cho phép cấu hình, điều khiển và xem lịch sử kết quả.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tổng thể</a:t>
            </a:r>
            <a:endParaRPr lang="en-US" sz="3000" dirty="0"/>
          </a:p>
        </p:txBody>
      </p:sp>
      <p:pic>
        <p:nvPicPr>
          <p:cNvPr id="3" name="Image 0" descr="arch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188720"/>
            <a:ext cx="10058400" cy="48591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864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5486400"/>
            <a:ext cx="3657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ứng dụng &amp; lưu trữ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5989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App, Firebase, Cloudinary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25112" y="54864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25112" y="5486400"/>
            <a:ext cx="365760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4507992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suy luận 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07992" y="5989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+ Camera Module V3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101584" y="54864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01584" y="5486400"/>
            <a:ext cx="3657600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4" name="Text 11"/>
          <p:cNvSpPr/>
          <p:nvPr/>
        </p:nvSpPr>
        <p:spPr>
          <a:xfrm>
            <a:off x="8284464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Khối điều khiển &amp; chấp hành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84464" y="5989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Driver DM542 + Stepper 42CM08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ba tầng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thành 3 mô hình nhằm tối ưu tài nguyên: chỉ lá nghi ngờ bệnh mới được chuyển sang tầng phân loại chuyên sâu.</a:t>
            </a:r>
            <a:endParaRPr lang="en-US" sz="1300" dirty="0"/>
          </a:p>
        </p:txBody>
      </p:sp>
      <p:pic>
        <p:nvPicPr>
          <p:cNvPr id="4" name="Image 0" descr="pipeline_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600200"/>
            <a:ext cx="10789920" cy="365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212080"/>
            <a:ext cx="36576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303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vùng lá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623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Pro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6080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 RGB · INT8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5212080"/>
            <a:ext cx="36576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9B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5303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tầng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07992" y="5623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1.0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07992" y="6080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160×160 RGB · Healthy/Diseased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01584" y="5212080"/>
            <a:ext cx="365760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464" y="5303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tầng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84464" y="56235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0.35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84464" y="6080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96×96 Grayscale · LeafMiner/EarlyBlight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 số huấn luyện ba mô hình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huấn luyện trên Edge Impulse, lượng tử hóa INT8, export sang định dạng .eim để chạy trên Raspberry Pi 4.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1828800"/>
                <a:gridCol w="1463040"/>
                <a:gridCol w="118872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Nhiệm vụ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Đầu vào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Tốc độ học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lá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 × 640 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/ Diseased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 × 160 RGB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LeafMiner / EarlyBlight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× 96 Gray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5720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tách 3 mô hình thay vì dùng 1 YOLO duy nhất?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502920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hoạt mở rộng: </a:t>
            </a:r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bệnh mới chỉ cần train lại tầng 2, không cần train lại detector trên dataset lớn.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 tài nguyên: </a:t>
            </a:r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lá khỏe (chiếm đa số trong nhà kính) chỉ chạy qua tầng 1, không tốn thời gian tầng 2.</a:t>
            </a:r>
            <a:endParaRPr lang="en-US" sz="1250" dirty="0"/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 hợp công cụ: </a:t>
            </a:r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hỗ trợ tốt từng task riêng biệt; dataset gán nhãn theo bbox đơn lớp dễ chuẩn bị hơn.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đánh giá ba mô hình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trên tập kiểm thử tách riêng khỏi tập huấn luyện (đơn vị: phần trăm).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00200"/>
            <a:ext cx="3931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828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KIỂM THỬ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0100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lá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01000" y="2606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ảnh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0010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Tách riêng tập huấn luyện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001000" y="3474720"/>
            <a:ext cx="3474720" cy="9144"/>
          </a:xfrm>
          <a:prstGeom prst="rect">
            <a:avLst/>
          </a:prstGeom>
          <a:solidFill>
            <a:srgbClr val="D9E5D2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/ Diseased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0100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ảnh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00100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ảnh mỗi lớp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01000" y="4800600"/>
            <a:ext cx="3474720" cy="9144"/>
          </a:xfrm>
          <a:prstGeom prst="rect">
            <a:avLst/>
          </a:prstGeom>
          <a:solidFill>
            <a:srgbClr val="D9E5D2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4937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LeafMiner / EarlyBlight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001000" y="5257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524</a:t>
            </a:r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ảnh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001000" y="5806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~262 ảnh mỗi lớp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nhầm lẫn — hai tầng phân loại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1: Healthy / Diseased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1.0 · 160×160 RGB · 500 ảnh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548640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 \ Dự đoán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20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4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trung bình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35508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2: LeafMiner / EarlyBlight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35508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0.35 · 96×96 Gray · 524 ảnh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240280"/>
          <a:ext cx="5486400" cy="210312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 \ Dự đoán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LeafMiner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EarlyBlight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LeafMiner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EarlyBlight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C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457200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29400" y="47091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93.7%</a:t>
            </a:r>
            <a:endParaRPr lang="en-US" sz="4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trung bình</a:t>
            </a:r>
            <a:endParaRPr lang="en-US" sz="4200" dirty="0"/>
          </a:p>
        </p:txBody>
      </p:sp>
      <p:sp>
        <p:nvSpPr>
          <p:cNvPr id="13" name="Text 9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chủ yếu khi vết bệnh nhỏ, mờ; vệt LeafMiner ngắn hoặc EarlyBlight dạng tuyến dài bị nhầm.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xử lý pipeline trên Raspberry Pi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 đo trên 100 ảnh thử nghiệm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48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Healthy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qua tầng 2 — tiết kiệm tài nguyên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148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9184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Diseased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đủ 3 mô hình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03520" cy="1920240"/>
          </a:xfrm>
          <a:prstGeom prst="rect">
            <a:avLst/>
          </a:prstGeom>
          <a:solidFill>
            <a:srgbClr val="F2F7EB"/>
          </a:solidFill>
          <a:ln w="12700">
            <a:solidFill>
              <a:srgbClr val="C5DB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với chu trình ray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xử lý nhỏ hơn thời gian ray dừng quan sát, đảm bảo cơ cấu không phải chờ pipeline AI hoàn tất.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tiết các bước xử lý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28800"/>
          <a:ext cx="5212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nhận ảnh từ Camera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 hiện vùng lá (YOLO)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Cắt vùng lá &amp; lọc nền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 Healthy/Diseased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Phân loại LeafMiner/EarlyBlight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hợp kết quả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phát hiện lá là tốn thời gian lớn nhất — chiếm ~75%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cấu cơ khí &amp; điều khiển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phần chấp hành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điều khiển nhận lệnh BLE từ Pi4, phát xung STEP/DIR cho driver.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DM542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công suất nhận tín hiệu logic, điều khiển động cơ bước.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bước 42CM08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NEMA 17, kéo cụm camera qua dây đai.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0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trượt 81 cm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53492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cấu dẫn hướng + 2 công tắc hành trình trái/phải.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1280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kiểm thử cơ cấu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83680" y="187452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874520"/>
            <a:ext cx="731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6868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Homing thành công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lần khởi động lại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342900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429000"/>
            <a:ext cx="731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566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&lt;1cm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686800" y="3611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số dừng vị trí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 0.18-0.31 cm tại 3 mốc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98348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4983480"/>
            <a:ext cx="73152" cy="1371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31"/>
          <p:cNvSpPr/>
          <p:nvPr/>
        </p:nvSpPr>
        <p:spPr>
          <a:xfrm>
            <a:off x="6812280" y="5120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8686800" y="5166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công lệnh NEXT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686800" y="5577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148/150 lần phản hồi đúng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&amp; đồng bộ dữ liệu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Pi4 ↔ ESP32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0.07-0.09 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trung bình lệnh điều khiển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977640"/>
            <a:ext cx="2743200" cy="18288"/>
          </a:xfrm>
          <a:prstGeom prst="rect">
            <a:avLst/>
          </a:prstGeom>
          <a:solidFill>
            <a:srgbClr val="D9E5D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206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UART Service. Pi4 đóng vai Central, ESP32 là Peripheral. Truyền config + lệnh START/PAUSE/STOP/NEXT.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37160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53712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 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53712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đồng bộ trạng thái live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82312" y="3977640"/>
            <a:ext cx="2743200" cy="18288"/>
          </a:xfrm>
          <a:prstGeom prst="rect">
            <a:avLst/>
          </a:prstGeom>
          <a:solidFill>
            <a:srgbClr val="D9E5D2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4206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RTDB lưu lệnh điều khiển và trạng thái thời gian thực. Firestore lưu cấu hình quét và lịch sử kết quả bệnh.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37160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1371600"/>
            <a:ext cx="3657600" cy="5486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330184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30184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 s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30184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tải ảnh bệnh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58784" y="3977640"/>
            <a:ext cx="2743200" cy="18288"/>
          </a:xfrm>
          <a:prstGeom prst="rect">
            <a:avLst/>
          </a:prstGeom>
          <a:solidFill>
            <a:srgbClr val="D9E5D2"/>
          </a:solidFill>
          <a:ln/>
        </p:spPr>
      </p:sp>
      <p:sp>
        <p:nvSpPr>
          <p:cNvPr id="23" name="Text 21"/>
          <p:cNvSpPr/>
          <p:nvPr/>
        </p:nvSpPr>
        <p:spPr>
          <a:xfrm>
            <a:off x="8330184" y="42062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tải khi phát hiện bệnh (LeafMiner/EarlyBlight). Tách kho ảnh khỏi Firebase, app chỉ đọc URL.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kiểm thử tích hợp toàn hệ thống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bản: 50 chu trình quét × 3 vị trí (10, 40, 70 cm) = 150 vị trí — đối chiếu với nhãn thực tế người kiểm thử quan sát.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40480" cy="4846320"/>
          </a:xfrm>
          <a:prstGeom prst="rect">
            <a:avLst/>
          </a:prstGeom>
          <a:solidFill>
            <a:srgbClr val="1F3D1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TOÀN HỆ THỐNG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94.0%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/ 150 vị trí phân loại đúng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4800600"/>
            <a:ext cx="2926080" cy="18288"/>
          </a:xfrm>
          <a:prstGeom prst="rect">
            <a:avLst/>
          </a:prstGeom>
          <a:solidFill>
            <a:srgbClr val="6B9B5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983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Hoàn thành chu trình</a:t>
            </a:r>
            <a:endParaRPr lang="en-US" sz="3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/vị trí trung bình</a:t>
            </a:r>
            <a:endParaRPr lang="en-US" sz="3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/chu trình 3 vị trí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bố kết quả theo nhãn thực tế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05740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97280"/>
                <a:gridCol w="1097280"/>
                <a:gridCol w="100584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 \ Dự đoán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LeafMiner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EarlyBlight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1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(55)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LeafMiner (50)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EarlyBlight (45)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C6B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5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EB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754880" y="5257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chủ yếu do điều kiện ảnh đầu vào (ánh sáng yếu, lá che khuất) và sai số tích lũy qua nhiều khâu pipeline.</a:t>
            </a:r>
            <a:endParaRPr lang="en-US" sz="1100" dirty="0"/>
          </a:p>
        </p:txBody>
      </p:sp>
      <p:pic>
        <p:nvPicPr>
          <p:cNvPr id="13" name="Image 0" descr="val_stage1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5715000"/>
            <a:ext cx="3383280" cy="685800"/>
          </a:xfrm>
          <a:prstGeom prst="rect">
            <a:avLst/>
          </a:prstGeom>
        </p:spPr>
      </p:pic>
      <p:pic>
        <p:nvPicPr>
          <p:cNvPr id="14" name="Image 1" descr="val_stage2.png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5715000"/>
            <a:ext cx="33832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441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đã đạt được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AI 3 tầng triển khai thành công trên Pi4, độ trễ trung bình 1.5s/ảnh.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8346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tầng 1 đạt 97.8%, tầng 2 đạt 93.7% trên tập kiểm thử tách riêng.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cấu ray trượt sai số dừng &lt; 1cm tại 3 vị trí, homing 100% thành công.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17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572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Pi4-ESP32 độ trễ &lt; 0.1s, hệ thống đồng bộ Firebase + Cloudinary ổn định.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486400"/>
            <a:ext cx="228600" cy="2286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86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54406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hệ thống đạt 94% chính xác, 98% hoàn thành chu trình trên 150 lượt test.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280160"/>
            <a:ext cx="53035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344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2011680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19659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tập dữ liệu cho các loại bệnh phức tạp hơn (Leaf Mold, Mốc sương).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29400" y="2880360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2880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2834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cảm biến môi trường (nhiệt độ, độ ẩm) để dự báo nguy cơ bệnh.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3749040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49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3703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thiện cơ chế tự phục hồi khi mất kết nối BLE hoặc mạng dài hạn.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9400" y="4617720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617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95160" y="45720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open-loop bằng encoder/linear hall sensor để phát hiện sai vị trí.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5486400"/>
            <a:ext cx="228600" cy="2286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54864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95160" y="544068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thực tế dài hạn trong nhà kính với nhiều điều kiện ánh sáng.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spc="800" kern="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TRÂN TRỌNG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HỘI ĐỒNG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632704" y="4114800"/>
            <a:ext cx="914400" cy="36576"/>
          </a:xfrm>
          <a:prstGeom prst="rect">
            <a:avLst/>
          </a:prstGeom>
          <a:solidFill>
            <a:srgbClr val="6B9B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3891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Thị Kiều Trang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5D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TS. Nguyễn Kiêm Hùng · TS. Mai Linh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hỏi &amp; đáp (Q&amp;A)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upLabel"/>
          <p:cNvSpPr/>
          <p:nvPr/>
        </p:nvSpPr>
        <p:spPr>
          <a:xfrm>
            <a:off x="9601200" y="228600"/>
            <a:ext cx="2011680" cy="365760"/>
          </a:xfrm>
          <a:prstGeom prst="roundRect">
            <a:avLst>
              <a:gd name="adj" fmla="val 16667"/>
            </a:avLst>
          </a:prstGeom>
          <a:solidFill>
            <a:srgbClr val="C75B12"/>
          </a:solidFill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BACKUP — Q&amp;A</a:t>
            </a:r>
          </a:p>
        </p:txBody>
      </p:sp>
      <p:sp>
        <p:nvSpPr>
          <p:cNvPr id="2" name="Title"/>
          <p:cNvSpPr/>
          <p:nvPr/>
        </p:nvSpPr>
        <p:spPr>
          <a:xfrm>
            <a:off x="548640" y="274320"/>
            <a:ext cx="8915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mô dữ liệu detector (940 ảnh)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</a:rPr>
              <a:t>Giải thích vì sao 940 ảnh đảm bảo hiệu quả với nhiệm vụ phát hiện lá đơn lớp, và các biện pháp chống overfitting.</a:t>
            </a:r>
          </a:p>
        </p:txBody>
      </p:sp>
      <p:sp>
        <p:nvSpPr>
          <p:cNvPr id="10" name="LeftBox"/>
          <p:cNvSpPr/>
          <p:nvPr/>
        </p:nvSpPr>
        <p:spPr>
          <a:xfrm>
            <a:off x="548640" y="1371600"/>
            <a:ext cx="53492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</a:ln>
        </p:spPr>
      </p:sp>
      <p:sp>
        <p:nvSpPr>
          <p:cNvPr id="11" name="LeftTitle"/>
          <p:cNvSpPr/>
          <p:nvPr/>
        </p:nvSpPr>
        <p:spPr>
          <a:xfrm>
            <a:off x="731520" y="1463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1F"/>
                </a:solidFill>
                <a:latin typeface="Calibri" pitchFamily="34" charset="0"/>
              </a:rPr>
              <a:t>Tại sao 940 ảnh là đủ?</a:t>
            </a:r>
          </a:p>
        </p:txBody>
      </p:sp>
      <p:sp>
        <p:nvSpPr>
          <p:cNvPr id="12" name="LeftContent"/>
          <p:cNvSpPr/>
          <p:nvPr/>
        </p:nvSpPr>
        <p:spPr>
          <a:xfrm>
            <a:off x="731520" y="1874520"/>
            <a:ext cx="49834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1. Nhiệm vụ đơn giản — chỉ 1 lớp “leaf”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Detector không phải phân loại bệnh — chỉ tìm vùng lá. Số lớp ít (1 class) giảm đáng kể yêu cầu dữ liệu so với multi-class (VD: COCO 80 class cần &gt;100K ảnh).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2. Transfer Learning từ COCO pre-trained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YOLO Pro khởi tạo từ trọng số COCO (330K+ ảnh). Đã học được đặc trưng cơ bản (cạnh, hình dạng, màu sắc) — chỉ cần fine-tune trên dữ liệu lá cà chua.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3. Data Augmentation tự động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Edge Impulse tự động augment: lật ngang/dọc, xoay, dịch chuyển, thay đổi độ sáng. Tăng đa dạng 4–6 lần không cần thêm ảnh gốc.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4. Kết quả xác nhận không overfit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mAP@50 = 0.84 trên tập test (188 ảnh — 20%). Kiểm thử toàn hệ thống đạt 94% trên 150 lượt — không biểu hiện overfitting.</a:t>
            </a:r>
          </a:p>
        </p:txBody>
      </p:sp>
      <p:sp>
        <p:nvSpPr>
          <p:cNvPr id="20" name="RightBox"/>
          <p:cNvSpPr/>
          <p:nvPr/>
        </p:nvSpPr>
        <p:spPr>
          <a:xfrm>
            <a:off x="6080760" y="1371600"/>
            <a:ext cx="5532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</a:ln>
        </p:spPr>
      </p:sp>
      <p:sp>
        <p:nvSpPr>
          <p:cNvPr id="21" name="RightTitle"/>
          <p:cNvSpPr/>
          <p:nvPr/>
        </p:nvSpPr>
        <p:spPr>
          <a:xfrm>
            <a:off x="6263640" y="14630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1F"/>
                </a:solidFill>
                <a:latin typeface="Calibri" pitchFamily="34" charset="0"/>
              </a:rPr>
              <a:t>So sánh với các đồ án tương tự</a:t>
            </a:r>
          </a:p>
        </p:txBody>
      </p:sp>
      <p:sp>
        <p:nvSpPr>
          <p:cNvPr id="22" name="RightContent"/>
          <p:cNvSpPr/>
          <p:nvPr/>
        </p:nvSpPr>
        <p:spPr>
          <a:xfrm>
            <a:off x="6263640" y="1874520"/>
            <a:ext cx="5166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Nhiều nghiên cứu object detection 1-class trên nông nghiệp sử dụng quy mô dữ liệu tương đương: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• PlantVillage benchmark: ~1000 ảnh/class là chuẩn cho classification lá cây.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• Detector chỉ “tìm lá” — bài toán phân loại bệnh do Classifier đảm nhiệm với 2.500+ ảnh (đủ lớn).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• Dữ liệu được làm sạch: loại ảnh mờ (Laplacian &lt; 80), loại leakage train/test, chuẩn hóa nhãn. Chất lượng &gt; số lượng.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</a:rPr>
              <a:t>Hạn chế nhận thức được:</a:t>
            </a:r>
          </a:p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  <a:latin typeface="Calibri" pitchFamily="34" charset="0"/>
              </a:rPr>
              <a:t>Dataset chủ yếu từ Roboflow/web, chưa nhiều ảnh Camera Pi4. Đây là hướng phát triển: thu thập thêm dữ liệu thực địa.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ackupLabel"/>
          <p:cNvSpPr/>
          <p:nvPr/>
        </p:nvSpPr>
        <p:spPr>
          <a:xfrm>
            <a:off x="9601200" y="228600"/>
            <a:ext cx="2011680" cy="365760"/>
          </a:xfrm>
          <a:prstGeom prst="roundRect">
            <a:avLst>
              <a:gd name="adj" fmla="val 16667"/>
            </a:avLst>
          </a:prstGeom>
          <a:solidFill>
            <a:srgbClr val="C75B12"/>
          </a:solidFill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BACKUP — Q&amp;A</a:t>
            </a:r>
          </a:p>
        </p:txBody>
      </p:sp>
      <p:sp>
        <p:nvSpPr>
          <p:cNvPr id="2" name="Title"/>
          <p:cNvSpPr/>
          <p:nvPr/>
        </p:nvSpPr>
        <p:spPr>
          <a:xfrm>
            <a:off x="548640" y="274320"/>
            <a:ext cx="8915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Căn cứ lựa chọn mô hình</a:t>
            </a:r>
          </a:p>
        </p:txBody>
      </p:sp>
      <p:sp>
        <p:nvSpPr>
          <p:cNvPr id="3" name="Subtitle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5C"/>
                </a:solidFill>
                <a:latin typeface="Calibri" pitchFamily="34" charset="0"/>
              </a:rPr>
              <a:t>Tại sao chọn YOLO Pro + MobileNetV2, không dùng multi-task hay các mô hình nhẹ khác (NanoDet, EfficientDet-Lite)?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371600"/>
          <a:ext cx="11064240" cy="246888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Phương án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Ưu điểm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Hạn chế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</a:rPr>
                        <a:t>Lý do không chọn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2C5F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MobileNetV2 multi-task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Gộp detect + classify trong 1 model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MobileNetV2 là classifier, không output bbox. Cần custom head + training riêng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Edge Impulse không hỗ trợ; cần PyTorch custom — ngoài phạm vi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NanoDet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Nhẹ (~1M param), nhanh trên ARM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Train + export thủ công qua PyTorch, không tích hợp sẵn nền tảng nào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5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Không có trên Edge Impulse; tự convert TFLite + build runtime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5F8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EfficientDet-Lite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Thiết kế cho mobile/edge, TFLite tốt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Không tích hợp với Edge Impulse .eim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Tự build pipeline, mất ưu thế .eim runtime trên Pi4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</a:rPr>
                        <a:t>YOLO Pro ✅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ED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Sẵn trong Edge Impulse, export .eim, INT8 tự động, output bbox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ED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E1A"/>
                          </a:solidFill>
                          <a:latin typeface="Calibri" pitchFamily="34" charset="0"/>
                        </a:rPr>
                        <a:t>Lớn hơn NanoDet (~2.4M param)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EDF5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</a:rPr>
                        <a:t>Đã chọn — end-to-end 1 nền tảng, 1.12s/Pi4</a:t>
                      </a:r>
                    </a:p>
                  </a:txBody>
                  <a:tcPr marL="91440" marR="91440" marT="45720" marB="45720" anchor="ctr">
                    <a:lnL w="6350">
                      <a:solidFill>
                        <a:srgbClr val="D9E5D2"/>
                      </a:solidFill>
                    </a:lnL>
                    <a:lnR w="6350">
                      <a:solidFill>
                        <a:srgbClr val="D9E5D2"/>
                      </a:solidFill>
                    </a:lnR>
                    <a:lnT w="6350">
                      <a:solidFill>
                        <a:srgbClr val="D9E5D2"/>
                      </a:solidFill>
                    </a:lnT>
                    <a:lnB w="6350">
                      <a:solidFill>
                        <a:srgbClr val="D9E5D2"/>
                      </a:solidFill>
                    </a:lnB>
                    <a:solidFill>
                      <a:srgbClr val="EDF5ED"/>
                    </a:solidFill>
                  </a:tcPr>
                </a:tc>
              </a:tr>
            </a:tbl>
          </a:graphicData>
        </a:graphic>
      </p:graphicFrame>
      <p:sp>
        <p:nvSpPr>
          <p:cNvPr id="30" name="BottomBox"/>
          <p:cNvSpPr/>
          <p:nvPr/>
        </p:nvSpPr>
        <p:spPr>
          <a:xfrm>
            <a:off x="548640" y="4114800"/>
            <a:ext cx="11064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D2"/>
            </a:solidFill>
          </a:ln>
        </p:spPr>
      </p:sp>
      <p:sp>
        <p:nvSpPr>
          <p:cNvPr id="31" name="BottomTitle"/>
          <p:cNvSpPr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1F"/>
                </a:solidFill>
                <a:latin typeface="Calibri" pitchFamily="34" charset="0"/>
              </a:rPr>
              <a:t>Yếu tố quyết định: Edge Impulse làm nền tảng trung tâm</a:t>
            </a:r>
          </a:p>
        </p:txBody>
      </p:sp>
      <p:sp>
        <p:nvSpPr>
          <p:cNvPr id="32" name="BottomContent"/>
          <p:cNvSpPr/>
          <p:nvPr/>
        </p:nvSpPr>
        <p:spPr>
          <a:xfrm>
            <a:off x="731520" y="46177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</a:rPr>
              <a:t>Pipeline 2-stage thay vì 1-stage: </a:t>
            </a:r>
            <a:r>
              <a:rPr lang="en-US" sz="1150" dirty="0">
                <a:solidFill>
                  <a:srgbClr val="1A2E1A"/>
                </a:solidFill>
                <a:latin typeface="Calibri" pitchFamily="34" charset="0"/>
              </a:rPr>
              <a:t>Detector tìm lá (đơn giản, ít data), Classifier phân loại bệnh (khó, nhiều data). Thêm bệnh mới chỉ train lại classifier, không cần gán lại bbox.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</a:rPr>
              <a:t>Edge Impulse cung cấp: </a:t>
            </a:r>
            <a:r>
              <a:rPr lang="en-US" sz="1150" dirty="0">
                <a:solidFill>
                  <a:srgbClr val="1A2E1A"/>
                </a:solidFill>
                <a:latin typeface="Calibri" pitchFamily="34" charset="0"/>
              </a:rPr>
              <a:t>Train + Augment + Quantize INT8 + Export .eim cho Linux ARM (Pi4) trong 1 nền tảng. Việc dùng nền tảng tích hợp giúp tập trung vào thiết kế hệ thống thay vì giải quyết toolchain.</a:t>
            </a:r>
          </a:p>
          <a:p>
            <a:pPr indent="0" marL="0">
              <a:buNone/>
            </a:pPr>
            <a:r>
              <a:rPr lang="en-US" sz="400" dirty="0">
                <a:solidFill>
                  <a:srgbClr val="1A2E1A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</a:rPr>
              <a:t>YOLO Pro là mô hình detection duy nhất </a:t>
            </a:r>
            <a:r>
              <a:rPr lang="en-US" sz="1150" dirty="0">
                <a:solidFill>
                  <a:srgbClr val="1A2E1A"/>
                </a:solidFill>
                <a:latin typeface="Calibri" pitchFamily="34" charset="0"/>
              </a:rPr>
              <a:t>Edge Impulse hỗ trợ cho Linux target với bounding box output. FOMO chỉ cho centroid, SSD MobileNet không export .eim ARM64.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AIoT Tomato Leaf Disease Detection</dc:title>
  <dc:subject>PptxGenJS Presentation</dc:subject>
  <dc:creator>Nguyen Thi Kieu Trang</dc:creator>
  <cp:lastModifiedBy>Nguyen Thi Kieu Trang</cp:lastModifiedBy>
  <cp:revision>1</cp:revision>
  <dcterms:created xsi:type="dcterms:W3CDTF">2026-05-24T16:58:32Z</dcterms:created>
  <dcterms:modified xsi:type="dcterms:W3CDTF">2026-05-24T16:58:32Z</dcterms:modified>
</cp:coreProperties>
</file>